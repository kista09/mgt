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828800"/>
            <a:ext cx="6400800" cy="6400800"/>
          </a:xfrm>
          <a:prstGeom prst="ellipse">
            <a:avLst/>
          </a:prstGeom>
          <a:solidFill>
            <a:srgbClr val="29B6F6">
              <a:alpha val="12000"/>
            </a:srgbClr>
          </a:solidFill>
          <a:ln w="12700">
            <a:solidFill>
              <a:srgbClr val="29B6F6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29B6F6">
              <a:alpha val="8000"/>
            </a:srgbClr>
          </a:solidFill>
          <a:ln w="12700">
            <a:solidFill>
              <a:srgbClr val="29B6F6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731520"/>
            <a:ext cx="2743200" cy="2743200"/>
          </a:xfrm>
          <a:prstGeom prst="ellipse">
            <a:avLst/>
          </a:prstGeom>
          <a:solidFill>
            <a:srgbClr val="003040"/>
          </a:solidFill>
          <a:ln w="38100">
            <a:solidFill>
              <a:srgbClr val="29B6F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143000"/>
            <a:ext cx="1920240" cy="1920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4864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MGT</a:t>
            </a:r>
            <a:endParaRPr lang="en-US" sz="7600" dirty="0"/>
          </a:p>
        </p:txBody>
      </p:sp>
      <p:sp>
        <p:nvSpPr>
          <p:cNvPr id="7" name="Shape 4"/>
          <p:cNvSpPr/>
          <p:nvPr/>
        </p:nvSpPr>
        <p:spPr>
          <a:xfrm>
            <a:off x="502920" y="1572768"/>
            <a:ext cx="1737360" cy="420624"/>
          </a:xfrm>
          <a:prstGeom prst="roundRect">
            <a:avLst>
              <a:gd name="adj" fmla="val 21739"/>
            </a:avLst>
          </a:prstGeom>
          <a:solidFill>
            <a:srgbClr val="003040"/>
          </a:solidFill>
          <a:ln w="22860">
            <a:solidFill>
              <a:srgbClr val="29B6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57276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2121408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Medications &amp; Health Products, Fast.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502920" y="27889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processing, OTC orders, and health advice — through MGT.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0" y="4773168"/>
            <a:ext cx="1324574" cy="365760"/>
          </a:xfrm>
          <a:prstGeom prst="rect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06286" y="4773168"/>
            <a:ext cx="1324574" cy="36576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12571" y="4773168"/>
            <a:ext cx="1324574" cy="365760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918857" y="4773168"/>
            <a:ext cx="1324574" cy="36576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225143" y="4773168"/>
            <a:ext cx="1324574" cy="365760"/>
          </a:xfrm>
          <a:prstGeom prst="rect">
            <a:avLst/>
          </a:prstGeom>
          <a:solidFill>
            <a:srgbClr val="FF6EC7"/>
          </a:solidFill>
          <a:ln w="12700">
            <a:solidFill>
              <a:srgbClr val="FF6EC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31429" y="4773168"/>
            <a:ext cx="1324574" cy="365760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837714" y="4773168"/>
            <a:ext cx="1324574" cy="36576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44622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MgucaTECH  ·  mgucatech.com  · 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PLATFORM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MGT?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303520" cy="1371600"/>
          </a:xfrm>
          <a:prstGeom prst="rect">
            <a:avLst/>
          </a:prstGeom>
          <a:solidFill>
            <a:srgbClr val="0F2035"/>
          </a:solidFill>
          <a:ln w="12700">
            <a:solidFill>
              <a:srgbClr val="29B6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64008" cy="1371600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98448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MGT Pharmacy makes medication access faster and simpler. Users can process prescriptions, order health products, and chat with pharmacists — all within the MGT platform.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5303520" cy="658368"/>
          </a:xfrm>
          <a:prstGeom prst="rect">
            <a:avLst/>
          </a:prstGeom>
          <a:solidFill>
            <a:srgbClr val="0F2035"/>
          </a:solidFill>
          <a:ln w="10160">
            <a:solidFill>
              <a:srgbClr val="29B6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2880360"/>
            <a:ext cx="475488" cy="475488"/>
          </a:xfrm>
          <a:prstGeom prst="ellipse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907792"/>
            <a:ext cx="420624" cy="4206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2862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Chat-First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88720" y="313639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forms. A natural conversation guides every booking.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3538728"/>
            <a:ext cx="5303520" cy="658368"/>
          </a:xfrm>
          <a:prstGeom prst="rect">
            <a:avLst/>
          </a:prstGeom>
          <a:solidFill>
            <a:srgbClr val="0F2035"/>
          </a:solidFill>
          <a:ln w="10160">
            <a:solidFill>
              <a:srgbClr val="00C85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94360" y="3630168"/>
            <a:ext cx="475488" cy="475488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3657600"/>
            <a:ext cx="420624" cy="4206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88720" y="3611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188720" y="388620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providers are credentialled, rated, and reviewed.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57200" y="4288536"/>
            <a:ext cx="5303520" cy="658368"/>
          </a:xfrm>
          <a:prstGeom prst="rect">
            <a:avLst/>
          </a:prstGeom>
          <a:solidFill>
            <a:srgbClr val="0F2035"/>
          </a:solidFill>
          <a:ln w="10160">
            <a:solidFill>
              <a:srgbClr val="9C6FD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94360" y="4379976"/>
            <a:ext cx="475488" cy="475488"/>
          </a:xfrm>
          <a:prstGeom prst="ellipse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407408"/>
            <a:ext cx="420624" cy="4206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88720" y="43616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Mobile-Ready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188720" y="463600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iOS, Android, and web — book from any device, anytime.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217920" y="1188720"/>
            <a:ext cx="2606040" cy="3749040"/>
          </a:xfrm>
          <a:prstGeom prst="rect">
            <a:avLst/>
          </a:prstGeom>
          <a:solidFill>
            <a:srgbClr val="0F2035"/>
          </a:solidFill>
          <a:ln w="19050">
            <a:solidFill>
              <a:srgbClr val="29B6F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217920" y="1188720"/>
            <a:ext cx="2606040" cy="502920"/>
          </a:xfrm>
          <a:prstGeom prst="rect">
            <a:avLst/>
          </a:prstGeom>
          <a:solidFill>
            <a:srgbClr val="003040"/>
          </a:solidFill>
          <a:ln w="12700">
            <a:solidFill>
              <a:srgbClr val="00304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217920" y="11887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MGT PHARMACY</a:t>
            </a:r>
            <a:endParaRPr lang="en-US" sz="12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1920240"/>
            <a:ext cx="1417320" cy="1417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309360" y="35204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Tap. Chat.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Booked.</a:t>
            </a:r>
            <a:endParaRPr lang="en-US" sz="2200" dirty="0"/>
          </a:p>
        </p:txBody>
      </p:sp>
      <p:sp>
        <p:nvSpPr>
          <p:cNvPr id="27" name="Text 21"/>
          <p:cNvSpPr/>
          <p:nvPr/>
        </p:nvSpPr>
        <p:spPr>
          <a:xfrm>
            <a:off x="6309360" y="44348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www.mgucatech.com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4008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" y="24231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MGT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82880" y="34290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Available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82880" y="38862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any of the following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the MGT chat flow.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447288" y="201168"/>
            <a:ext cx="2615184" cy="1463040"/>
          </a:xfrm>
          <a:prstGeom prst="rect">
            <a:avLst/>
          </a:prstGeom>
          <a:solidFill>
            <a:srgbClr val="29B6F6">
              <a:alpha val="10000"/>
            </a:srgbClr>
          </a:solidFill>
          <a:ln w="12700">
            <a:solidFill>
              <a:srgbClr val="29B6F6">
                <a:alpha val="1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474720" y="228600"/>
            <a:ext cx="2560320" cy="1435608"/>
          </a:xfrm>
          <a:prstGeom prst="rect">
            <a:avLst/>
          </a:prstGeom>
          <a:solidFill>
            <a:srgbClr val="0F2035"/>
          </a:solidFill>
          <a:ln w="12700">
            <a:solidFill>
              <a:srgbClr val="29B6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74720" y="228600"/>
            <a:ext cx="2560320" cy="54864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02736" y="3566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Processing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02736" y="685800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your script and collect or receive your meds.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45352" y="201168"/>
            <a:ext cx="2615184" cy="1463040"/>
          </a:xfrm>
          <a:prstGeom prst="rect">
            <a:avLst/>
          </a:prstGeom>
          <a:solidFill>
            <a:srgbClr val="29B6F6">
              <a:alpha val="10000"/>
            </a:srgbClr>
          </a:solidFill>
          <a:ln w="12700">
            <a:solidFill>
              <a:srgbClr val="29B6F6">
                <a:alpha val="1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72784" y="228600"/>
            <a:ext cx="2560320" cy="1435608"/>
          </a:xfrm>
          <a:prstGeom prst="rect">
            <a:avLst/>
          </a:prstGeom>
          <a:solidFill>
            <a:srgbClr val="0F2035"/>
          </a:solidFill>
          <a:ln w="12700">
            <a:solidFill>
              <a:srgbClr val="29B6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72784" y="228600"/>
            <a:ext cx="2560320" cy="54864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0" y="3566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OTC Product Orders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00800" y="685800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over-the-counter health products for delivery.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447288" y="1801368"/>
            <a:ext cx="2615184" cy="1463040"/>
          </a:xfrm>
          <a:prstGeom prst="rect">
            <a:avLst/>
          </a:prstGeom>
          <a:solidFill>
            <a:srgbClr val="29B6F6">
              <a:alpha val="10000"/>
            </a:srgbClr>
          </a:solidFill>
          <a:ln w="12700">
            <a:solidFill>
              <a:srgbClr val="29B6F6">
                <a:alpha val="1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474720" y="1828800"/>
            <a:ext cx="2560320" cy="1435608"/>
          </a:xfrm>
          <a:prstGeom prst="rect">
            <a:avLst/>
          </a:prstGeom>
          <a:solidFill>
            <a:srgbClr val="0F2035"/>
          </a:solidFill>
          <a:ln w="12700">
            <a:solidFill>
              <a:srgbClr val="29B6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474720" y="1828800"/>
            <a:ext cx="2560320" cy="54864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02736" y="19568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Pharmacist Chat Advice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602736" y="2286000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professional health and medication guidance.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45352" y="1801368"/>
            <a:ext cx="2615184" cy="1463040"/>
          </a:xfrm>
          <a:prstGeom prst="rect">
            <a:avLst/>
          </a:prstGeom>
          <a:solidFill>
            <a:srgbClr val="29B6F6">
              <a:alpha val="10000"/>
            </a:srgbClr>
          </a:solidFill>
          <a:ln w="12700">
            <a:solidFill>
              <a:srgbClr val="29B6F6">
                <a:alpha val="1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72784" y="1828800"/>
            <a:ext cx="2560320" cy="1435608"/>
          </a:xfrm>
          <a:prstGeom prst="rect">
            <a:avLst/>
          </a:prstGeom>
          <a:solidFill>
            <a:srgbClr val="0F2035"/>
          </a:solidFill>
          <a:ln w="12700">
            <a:solidFill>
              <a:srgbClr val="29B6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272784" y="1828800"/>
            <a:ext cx="2560320" cy="54864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0" y="19568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Open Pharmacy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400800" y="2286000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closest open pharmacy in real time.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3447288" y="3401568"/>
            <a:ext cx="2615184" cy="1463040"/>
          </a:xfrm>
          <a:prstGeom prst="rect">
            <a:avLst/>
          </a:prstGeom>
          <a:solidFill>
            <a:srgbClr val="29B6F6">
              <a:alpha val="10000"/>
            </a:srgbClr>
          </a:solidFill>
          <a:ln w="12700">
            <a:solidFill>
              <a:srgbClr val="29B6F6">
                <a:alpha val="10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474720" y="3429000"/>
            <a:ext cx="2560320" cy="1435608"/>
          </a:xfrm>
          <a:prstGeom prst="rect">
            <a:avLst/>
          </a:prstGeom>
          <a:solidFill>
            <a:srgbClr val="0F2035"/>
          </a:solidFill>
          <a:ln w="12700">
            <a:solidFill>
              <a:srgbClr val="29B6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3474720" y="3429000"/>
            <a:ext cx="2560320" cy="54864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02736" y="35570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Reminders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3602736" y="3886200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reminders for chronic medication through the app.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245352" y="3401568"/>
            <a:ext cx="2615184" cy="1463040"/>
          </a:xfrm>
          <a:prstGeom prst="rect">
            <a:avLst/>
          </a:prstGeom>
          <a:solidFill>
            <a:srgbClr val="29B6F6">
              <a:alpha val="10000"/>
            </a:srgbClr>
          </a:solidFill>
          <a:ln w="12700">
            <a:solidFill>
              <a:srgbClr val="29B6F6">
                <a:alpha val="10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72784" y="3429000"/>
            <a:ext cx="2560320" cy="1435608"/>
          </a:xfrm>
          <a:prstGeom prst="rect">
            <a:avLst/>
          </a:prstGeom>
          <a:solidFill>
            <a:srgbClr val="0F2035"/>
          </a:solidFill>
          <a:ln w="12700">
            <a:solidFill>
              <a:srgbClr val="29B6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272784" y="3429000"/>
            <a:ext cx="2560320" cy="54864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0800" y="35570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Medication Management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6400800" y="3886200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repeat ordering for chronic conditions.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Pharmacy on MGT — 5 Simple Steps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792224" y="2057400"/>
            <a:ext cx="201168" cy="73152"/>
          </a:xfrm>
          <a:prstGeom prst="rect">
            <a:avLst/>
          </a:prstGeom>
          <a:solidFill>
            <a:srgbClr val="29B6F6">
              <a:alpha val="50000"/>
            </a:srgbClr>
          </a:solidFill>
          <a:ln w="12700">
            <a:solidFill>
              <a:srgbClr val="29B6F6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097280"/>
            <a:ext cx="1508760" cy="1508760"/>
          </a:xfrm>
          <a:prstGeom prst="ellipse">
            <a:avLst/>
          </a:prstGeom>
          <a:solidFill>
            <a:srgbClr val="0F2035"/>
          </a:solidFill>
          <a:ln w="25400">
            <a:solidFill>
              <a:srgbClr val="29B6F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508760"/>
            <a:ext cx="685800" cy="685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80160" y="1060704"/>
            <a:ext cx="347472" cy="347472"/>
          </a:xfrm>
          <a:prstGeom prst="ellipse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80160" y="1060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64592" y="2743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MGT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64592" y="3127248"/>
            <a:ext cx="1691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selects Pharmacy from the home screen.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529584" y="2057400"/>
            <a:ext cx="201168" cy="73152"/>
          </a:xfrm>
          <a:prstGeom prst="rect">
            <a:avLst/>
          </a:prstGeom>
          <a:solidFill>
            <a:srgbClr val="29B6F6">
              <a:alpha val="50000"/>
            </a:srgbClr>
          </a:solidFill>
          <a:ln w="12700">
            <a:solidFill>
              <a:srgbClr val="29B6F6">
                <a:alpha val="5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93392" y="1097280"/>
            <a:ext cx="1508760" cy="1508760"/>
          </a:xfrm>
          <a:prstGeom prst="ellipse">
            <a:avLst/>
          </a:prstGeom>
          <a:solidFill>
            <a:srgbClr val="0F2035"/>
          </a:solidFill>
          <a:ln w="25400">
            <a:solidFill>
              <a:srgbClr val="29B6F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872" y="1508760"/>
            <a:ext cx="685800" cy="6858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017520" y="1060704"/>
            <a:ext cx="347472" cy="347472"/>
          </a:xfrm>
          <a:prstGeom prst="ellipse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17520" y="1060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901952" y="2743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Script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901952" y="3127248"/>
            <a:ext cx="1691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flow guides user to upload prescription or describe need.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266944" y="2057400"/>
            <a:ext cx="201168" cy="73152"/>
          </a:xfrm>
          <a:prstGeom prst="rect">
            <a:avLst/>
          </a:prstGeom>
          <a:solidFill>
            <a:srgbClr val="29B6F6">
              <a:alpha val="50000"/>
            </a:srgbClr>
          </a:solidFill>
          <a:ln w="12700">
            <a:solidFill>
              <a:srgbClr val="29B6F6">
                <a:alpha val="50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730752" y="1097280"/>
            <a:ext cx="1508760" cy="1508760"/>
          </a:xfrm>
          <a:prstGeom prst="ellipse">
            <a:avLst/>
          </a:prstGeom>
          <a:solidFill>
            <a:srgbClr val="0F2035"/>
          </a:solidFill>
          <a:ln w="25400">
            <a:solidFill>
              <a:srgbClr val="29B6F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232" y="1508760"/>
            <a:ext cx="685800" cy="68580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4754880" y="1060704"/>
            <a:ext cx="347472" cy="347472"/>
          </a:xfrm>
          <a:prstGeom prst="ellipse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754880" y="1060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3639312" y="2743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3639312" y="3127248"/>
            <a:ext cx="1691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or available pharmacy is identified and alerted.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7004304" y="2057400"/>
            <a:ext cx="201168" cy="73152"/>
          </a:xfrm>
          <a:prstGeom prst="rect">
            <a:avLst/>
          </a:prstGeom>
          <a:solidFill>
            <a:srgbClr val="29B6F6">
              <a:alpha val="50000"/>
            </a:srgbClr>
          </a:solidFill>
          <a:ln w="12700">
            <a:solidFill>
              <a:srgbClr val="29B6F6">
                <a:alpha val="5000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468112" y="1097280"/>
            <a:ext cx="1508760" cy="1508760"/>
          </a:xfrm>
          <a:prstGeom prst="ellipse">
            <a:avLst/>
          </a:prstGeom>
          <a:solidFill>
            <a:srgbClr val="0F2035"/>
          </a:solidFill>
          <a:ln w="25400">
            <a:solidFill>
              <a:srgbClr val="29B6F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2" y="1508760"/>
            <a:ext cx="685800" cy="68580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6492240" y="1060704"/>
            <a:ext cx="347472" cy="347472"/>
          </a:xfrm>
          <a:prstGeom prst="ellipse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492240" y="1060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5376672" y="2743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5376672" y="3127248"/>
            <a:ext cx="1691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selects collect or delivery — payment handled in-app.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7205472" y="1097280"/>
            <a:ext cx="1508760" cy="1508760"/>
          </a:xfrm>
          <a:prstGeom prst="ellipse">
            <a:avLst/>
          </a:prstGeom>
          <a:solidFill>
            <a:srgbClr val="0F2035"/>
          </a:solidFill>
          <a:ln w="25400">
            <a:solidFill>
              <a:srgbClr val="29B6F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6952" y="1508760"/>
            <a:ext cx="685800" cy="685800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8229600" y="1060704"/>
            <a:ext cx="347472" cy="347472"/>
          </a:xfrm>
          <a:prstGeom prst="ellipse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8229600" y="1060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7114032" y="2743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7114032" y="3127248"/>
            <a:ext cx="1691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Medications dispensed; chronic users auto-reminded next cycle.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040"/>
          </a:solidFill>
          <a:ln w="12700">
            <a:solidFill>
              <a:srgbClr val="003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PHARMACY PROVIDERS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list on MGT Pharmacy?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46888" y="1088136"/>
            <a:ext cx="4169664" cy="1152144"/>
          </a:xfrm>
          <a:prstGeom prst="rect">
            <a:avLst/>
          </a:prstGeom>
          <a:solidFill>
            <a:srgbClr val="29B6F6">
              <a:alpha val="10000"/>
            </a:srgbClr>
          </a:solidFill>
          <a:ln w="12700">
            <a:solidFill>
              <a:srgbClr val="29B6F6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15568"/>
            <a:ext cx="4114800" cy="1124712"/>
          </a:xfrm>
          <a:prstGeom prst="rect">
            <a:avLst/>
          </a:prstGeom>
          <a:solidFill>
            <a:srgbClr val="0F2035"/>
          </a:solidFill>
          <a:ln w="10160">
            <a:solidFill>
              <a:srgbClr val="29B6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435608"/>
            <a:ext cx="475488" cy="475488"/>
          </a:xfrm>
          <a:prstGeom prst="ellipse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463040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4128" y="143560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 customers from beyond your immediate foot traffic area.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27448" y="1088136"/>
            <a:ext cx="4169664" cy="1152144"/>
          </a:xfrm>
          <a:prstGeom prst="rect">
            <a:avLst/>
          </a:prstGeom>
          <a:solidFill>
            <a:srgbClr val="29B6F6">
              <a:alpha val="10000"/>
            </a:srgbClr>
          </a:solidFill>
          <a:ln w="12700">
            <a:solidFill>
              <a:srgbClr val="29B6F6">
                <a:alpha val="1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54880" y="1115568"/>
            <a:ext cx="4114800" cy="1124712"/>
          </a:xfrm>
          <a:prstGeom prst="rect">
            <a:avLst/>
          </a:prstGeom>
          <a:solidFill>
            <a:srgbClr val="0F2035"/>
          </a:solidFill>
          <a:ln w="10160">
            <a:solidFill>
              <a:srgbClr val="29B6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92040" y="1435608"/>
            <a:ext cx="475488" cy="475488"/>
          </a:xfrm>
          <a:prstGeom prst="ellipse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463040"/>
            <a:ext cx="420624" cy="4206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04688" y="143560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digital prescription uploads — reduce counter queues.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246888" y="2386584"/>
            <a:ext cx="4169664" cy="1152144"/>
          </a:xfrm>
          <a:prstGeom prst="rect">
            <a:avLst/>
          </a:prstGeom>
          <a:solidFill>
            <a:srgbClr val="29B6F6">
              <a:alpha val="10000"/>
            </a:srgbClr>
          </a:solidFill>
          <a:ln w="12700">
            <a:solidFill>
              <a:srgbClr val="29B6F6">
                <a:alpha val="10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74320" y="2414016"/>
            <a:ext cx="4114800" cy="1124712"/>
          </a:xfrm>
          <a:prstGeom prst="rect">
            <a:avLst/>
          </a:prstGeom>
          <a:solidFill>
            <a:srgbClr val="0F2035"/>
          </a:solidFill>
          <a:ln w="10160">
            <a:solidFill>
              <a:srgbClr val="29B6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11480" y="2734056"/>
            <a:ext cx="475488" cy="475488"/>
          </a:xfrm>
          <a:prstGeom prst="ellipse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761488"/>
            <a:ext cx="420624" cy="4206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24128" y="273405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delivery and click-and-collect through the MGT platform.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4727448" y="2386584"/>
            <a:ext cx="4169664" cy="1152144"/>
          </a:xfrm>
          <a:prstGeom prst="rect">
            <a:avLst/>
          </a:prstGeom>
          <a:solidFill>
            <a:srgbClr val="29B6F6">
              <a:alpha val="10000"/>
            </a:srgbClr>
          </a:solidFill>
          <a:ln w="12700">
            <a:solidFill>
              <a:srgbClr val="29B6F6">
                <a:alpha val="1000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754880" y="2414016"/>
            <a:ext cx="4114800" cy="1124712"/>
          </a:xfrm>
          <a:prstGeom prst="rect">
            <a:avLst/>
          </a:prstGeom>
          <a:solidFill>
            <a:srgbClr val="0F2035"/>
          </a:solidFill>
          <a:ln w="10160">
            <a:solidFill>
              <a:srgbClr val="29B6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92040" y="2734056"/>
            <a:ext cx="475488" cy="475488"/>
          </a:xfrm>
          <a:prstGeom prst="ellipse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2761488"/>
            <a:ext cx="420624" cy="42062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04688" y="273405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Pharmacist chat consultations generate incremental revenue.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246888" y="3685032"/>
            <a:ext cx="4169664" cy="1152144"/>
          </a:xfrm>
          <a:prstGeom prst="rect">
            <a:avLst/>
          </a:prstGeom>
          <a:solidFill>
            <a:srgbClr val="29B6F6">
              <a:alpha val="10000"/>
            </a:srgbClr>
          </a:solidFill>
          <a:ln w="12700">
            <a:solidFill>
              <a:srgbClr val="29B6F6">
                <a:alpha val="10000"/>
              </a:srgbClr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274320" y="3712464"/>
            <a:ext cx="4114800" cy="1124712"/>
          </a:xfrm>
          <a:prstGeom prst="rect">
            <a:avLst/>
          </a:prstGeom>
          <a:solidFill>
            <a:srgbClr val="0F2035"/>
          </a:solidFill>
          <a:ln w="10160">
            <a:solidFill>
              <a:srgbClr val="29B6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11480" y="4032504"/>
            <a:ext cx="475488" cy="475488"/>
          </a:xfrm>
          <a:prstGeom prst="ellipse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4059936"/>
            <a:ext cx="420624" cy="42062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024128" y="403250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SAHPRA-compliant listings — your dispensing licence is protected.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4727448" y="3685032"/>
            <a:ext cx="4169664" cy="1152144"/>
          </a:xfrm>
          <a:prstGeom prst="rect">
            <a:avLst/>
          </a:prstGeom>
          <a:solidFill>
            <a:srgbClr val="29B6F6">
              <a:alpha val="10000"/>
            </a:srgbClr>
          </a:solidFill>
          <a:ln w="12700">
            <a:solidFill>
              <a:srgbClr val="29B6F6">
                <a:alpha val="10000"/>
              </a:srgbClr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4754880" y="3712464"/>
            <a:ext cx="4114800" cy="1124712"/>
          </a:xfrm>
          <a:prstGeom prst="rect">
            <a:avLst/>
          </a:prstGeom>
          <a:solidFill>
            <a:srgbClr val="0F2035"/>
          </a:solidFill>
          <a:ln w="10160">
            <a:solidFill>
              <a:srgbClr val="29B6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892040" y="4032504"/>
            <a:ext cx="475488" cy="475488"/>
          </a:xfrm>
          <a:prstGeom prst="ellipse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4059936"/>
            <a:ext cx="420624" cy="42062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504688" y="403250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chronic medication reminders keep customers coming back.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FEATURES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to run your bookings.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2011680" cy="1783080"/>
          </a:xfrm>
          <a:prstGeom prst="rect">
            <a:avLst/>
          </a:prstGeom>
          <a:solidFill>
            <a:srgbClr val="29B6F6">
              <a:alpha val="10000"/>
            </a:srgbClr>
          </a:solidFill>
          <a:ln w="12700">
            <a:solidFill>
              <a:srgbClr val="29B6F6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078992"/>
            <a:ext cx="1956816" cy="1755648"/>
          </a:xfrm>
          <a:prstGeom prst="rect">
            <a:avLst/>
          </a:prstGeom>
          <a:solidFill>
            <a:srgbClr val="0F2035"/>
          </a:solidFill>
          <a:ln w="10160">
            <a:solidFill>
              <a:srgbClr val="29B6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16152"/>
            <a:ext cx="457200" cy="457200"/>
          </a:xfrm>
          <a:prstGeom prst="ellipse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" y="1243584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7472" y="1737360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App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47472" y="2048256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bookings, availability, and client messages from your phone.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404872" y="1051560"/>
            <a:ext cx="2011680" cy="1783080"/>
          </a:xfrm>
          <a:prstGeom prst="rect">
            <a:avLst/>
          </a:prstGeom>
          <a:solidFill>
            <a:srgbClr val="29B6F6">
              <a:alpha val="10000"/>
            </a:srgbClr>
          </a:solidFill>
          <a:ln w="12700">
            <a:solidFill>
              <a:srgbClr val="29B6F6">
                <a:alpha val="1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432304" y="1078992"/>
            <a:ext cx="1956816" cy="1755648"/>
          </a:xfrm>
          <a:prstGeom prst="rect">
            <a:avLst/>
          </a:prstGeom>
          <a:solidFill>
            <a:srgbClr val="0F2035"/>
          </a:solidFill>
          <a:ln w="10160">
            <a:solidFill>
              <a:srgbClr val="29B6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42032" y="1216152"/>
            <a:ext cx="457200" cy="457200"/>
          </a:xfrm>
          <a:prstGeom prst="ellipse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464" y="1243584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23744" y="1737360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Scheduling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523744" y="2048256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Auto-blocks unavailable slots. No double-bookings. Ever.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581144" y="1051560"/>
            <a:ext cx="2011680" cy="1783080"/>
          </a:xfrm>
          <a:prstGeom prst="rect">
            <a:avLst/>
          </a:prstGeom>
          <a:solidFill>
            <a:srgbClr val="29B6F6">
              <a:alpha val="10000"/>
            </a:srgbClr>
          </a:solidFill>
          <a:ln w="12700">
            <a:solidFill>
              <a:srgbClr val="29B6F6">
                <a:alpha val="10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608576" y="1078992"/>
            <a:ext cx="1956816" cy="1755648"/>
          </a:xfrm>
          <a:prstGeom prst="rect">
            <a:avLst/>
          </a:prstGeom>
          <a:solidFill>
            <a:srgbClr val="0F2035"/>
          </a:solidFill>
          <a:ln w="10160">
            <a:solidFill>
              <a:srgbClr val="29B6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718304" y="1216152"/>
            <a:ext cx="457200" cy="457200"/>
          </a:xfrm>
          <a:prstGeom prst="ellipse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736" y="1243584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700016" y="1737360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Reminders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700016" y="2048256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and in-app reminders sent to clients before every appointment.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757416" y="1051560"/>
            <a:ext cx="2011680" cy="1783080"/>
          </a:xfrm>
          <a:prstGeom prst="rect">
            <a:avLst/>
          </a:prstGeom>
          <a:solidFill>
            <a:srgbClr val="29B6F6">
              <a:alpha val="10000"/>
            </a:srgbClr>
          </a:solidFill>
          <a:ln w="12700">
            <a:solidFill>
              <a:srgbClr val="29B6F6">
                <a:alpha val="10000"/>
              </a:srgbClr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784848" y="1078992"/>
            <a:ext cx="1956816" cy="1755648"/>
          </a:xfrm>
          <a:prstGeom prst="rect">
            <a:avLst/>
          </a:prstGeom>
          <a:solidFill>
            <a:srgbClr val="0F2035"/>
          </a:solidFill>
          <a:ln w="10160">
            <a:solidFill>
              <a:srgbClr val="29B6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894576" y="1216152"/>
            <a:ext cx="457200" cy="457200"/>
          </a:xfrm>
          <a:prstGeom prst="ellipse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008" y="1243584"/>
            <a:ext cx="402336" cy="40233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876288" y="1737360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Payments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876288" y="2048256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deposits or full payments securely — direct to your account.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228600" y="2990088"/>
            <a:ext cx="2011680" cy="1783080"/>
          </a:xfrm>
          <a:prstGeom prst="rect">
            <a:avLst/>
          </a:prstGeom>
          <a:solidFill>
            <a:srgbClr val="29B6F6">
              <a:alpha val="10000"/>
            </a:srgbClr>
          </a:solidFill>
          <a:ln w="12700">
            <a:solidFill>
              <a:srgbClr val="29B6F6">
                <a:alpha val="10000"/>
              </a:srgbClr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256032" y="3017520"/>
            <a:ext cx="1956816" cy="1755648"/>
          </a:xfrm>
          <a:prstGeom prst="rect">
            <a:avLst/>
          </a:prstGeom>
          <a:solidFill>
            <a:srgbClr val="0F2035"/>
          </a:solidFill>
          <a:ln w="10160">
            <a:solidFill>
              <a:srgbClr val="29B6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65760" y="3154680"/>
            <a:ext cx="457200" cy="457200"/>
          </a:xfrm>
          <a:prstGeom prst="ellipse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" y="3182112"/>
            <a:ext cx="402336" cy="40233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47472" y="3675888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347472" y="3986784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bookings, revenue, ratings, and client retention over time.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2404872" y="2990088"/>
            <a:ext cx="2011680" cy="1783080"/>
          </a:xfrm>
          <a:prstGeom prst="rect">
            <a:avLst/>
          </a:prstGeom>
          <a:solidFill>
            <a:srgbClr val="29B6F6">
              <a:alpha val="10000"/>
            </a:srgbClr>
          </a:solidFill>
          <a:ln w="12700">
            <a:solidFill>
              <a:srgbClr val="29B6F6">
                <a:alpha val="10000"/>
              </a:srgbClr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2432304" y="3017520"/>
            <a:ext cx="1956816" cy="1755648"/>
          </a:xfrm>
          <a:prstGeom prst="rect">
            <a:avLst/>
          </a:prstGeom>
          <a:solidFill>
            <a:srgbClr val="0F2035"/>
          </a:solidFill>
          <a:ln w="10160">
            <a:solidFill>
              <a:srgbClr val="29B6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2542032" y="3154680"/>
            <a:ext cx="457200" cy="457200"/>
          </a:xfrm>
          <a:prstGeom prst="ellipse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9464" y="3182112"/>
            <a:ext cx="402336" cy="402336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2523744" y="3675888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Client Chat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2523744" y="3986784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with clients before and after bookings in the app.</a:t>
            </a:r>
            <a:endParaRPr lang="en-US" sz="1050" dirty="0"/>
          </a:p>
        </p:txBody>
      </p:sp>
      <p:sp>
        <p:nvSpPr>
          <p:cNvPr id="40" name="Shape 32"/>
          <p:cNvSpPr/>
          <p:nvPr/>
        </p:nvSpPr>
        <p:spPr>
          <a:xfrm>
            <a:off x="4581144" y="2990088"/>
            <a:ext cx="2011680" cy="1783080"/>
          </a:xfrm>
          <a:prstGeom prst="rect">
            <a:avLst/>
          </a:prstGeom>
          <a:solidFill>
            <a:srgbClr val="29B6F6">
              <a:alpha val="10000"/>
            </a:srgbClr>
          </a:solidFill>
          <a:ln w="12700">
            <a:solidFill>
              <a:srgbClr val="29B6F6">
                <a:alpha val="10000"/>
              </a:srgbClr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4608576" y="3017520"/>
            <a:ext cx="1956816" cy="1755648"/>
          </a:xfrm>
          <a:prstGeom prst="rect">
            <a:avLst/>
          </a:prstGeom>
          <a:solidFill>
            <a:srgbClr val="0F2035"/>
          </a:solidFill>
          <a:ln w="10160">
            <a:solidFill>
              <a:srgbClr val="29B6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4718304" y="3154680"/>
            <a:ext cx="457200" cy="457200"/>
          </a:xfrm>
          <a:prstGeom prst="ellipse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5736" y="3182112"/>
            <a:ext cx="402336" cy="402336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4700016" y="3675888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&amp; Reviews</a:t>
            </a:r>
            <a:endParaRPr lang="en-US" sz="1200" dirty="0"/>
          </a:p>
        </p:txBody>
      </p:sp>
      <p:sp>
        <p:nvSpPr>
          <p:cNvPr id="45" name="Text 36"/>
          <p:cNvSpPr/>
          <p:nvPr/>
        </p:nvSpPr>
        <p:spPr>
          <a:xfrm>
            <a:off x="4700016" y="3986784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reviews build your credibility and attract more clients.</a:t>
            </a:r>
            <a:endParaRPr lang="en-US" sz="1050" dirty="0"/>
          </a:p>
        </p:txBody>
      </p:sp>
      <p:sp>
        <p:nvSpPr>
          <p:cNvPr id="46" name="Shape 37"/>
          <p:cNvSpPr/>
          <p:nvPr/>
        </p:nvSpPr>
        <p:spPr>
          <a:xfrm>
            <a:off x="6757416" y="2990088"/>
            <a:ext cx="2011680" cy="1783080"/>
          </a:xfrm>
          <a:prstGeom prst="rect">
            <a:avLst/>
          </a:prstGeom>
          <a:solidFill>
            <a:srgbClr val="29B6F6">
              <a:alpha val="10000"/>
            </a:srgbClr>
          </a:solidFill>
          <a:ln w="12700">
            <a:solidFill>
              <a:srgbClr val="29B6F6">
                <a:alpha val="10000"/>
              </a:srgbClr>
            </a:solidFill>
            <a:prstDash val="solid"/>
          </a:ln>
        </p:spPr>
      </p:sp>
      <p:sp>
        <p:nvSpPr>
          <p:cNvPr id="47" name="Shape 38"/>
          <p:cNvSpPr/>
          <p:nvPr/>
        </p:nvSpPr>
        <p:spPr>
          <a:xfrm>
            <a:off x="6784848" y="3017520"/>
            <a:ext cx="1956816" cy="1755648"/>
          </a:xfrm>
          <a:prstGeom prst="rect">
            <a:avLst/>
          </a:prstGeom>
          <a:solidFill>
            <a:srgbClr val="0F2035"/>
          </a:solidFill>
          <a:ln w="10160">
            <a:solidFill>
              <a:srgbClr val="29B6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8" name="Shape 39"/>
          <p:cNvSpPr/>
          <p:nvPr/>
        </p:nvSpPr>
        <p:spPr>
          <a:xfrm>
            <a:off x="6894576" y="3154680"/>
            <a:ext cx="457200" cy="457200"/>
          </a:xfrm>
          <a:prstGeom prst="ellipse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22008" y="3182112"/>
            <a:ext cx="402336" cy="402336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6876288" y="3675888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POPIA Compliant</a:t>
            </a:r>
            <a:endParaRPr lang="en-US" sz="1200" dirty="0"/>
          </a:p>
        </p:txBody>
      </p:sp>
      <p:sp>
        <p:nvSpPr>
          <p:cNvPr id="51" name="Text 41"/>
          <p:cNvSpPr/>
          <p:nvPr/>
        </p:nvSpPr>
        <p:spPr>
          <a:xfrm>
            <a:off x="6876288" y="3986784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handled in accordance with South African privacy law.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PACKAGES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transparent pricing.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37744" y="1152144"/>
            <a:ext cx="2633472" cy="3730752"/>
          </a:xfrm>
          <a:prstGeom prst="rect">
            <a:avLst/>
          </a:prstGeom>
          <a:solidFill>
            <a:srgbClr val="29B6F6">
              <a:alpha val="10000"/>
            </a:srgbClr>
          </a:solidFill>
          <a:ln w="12700">
            <a:solidFill>
              <a:srgbClr val="29B6F6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88720"/>
            <a:ext cx="2560320" cy="3657600"/>
          </a:xfrm>
          <a:prstGeom prst="rect">
            <a:avLst/>
          </a:prstGeom>
          <a:solidFill>
            <a:srgbClr val="0F2035"/>
          </a:solidFill>
          <a:ln w="12700">
            <a:solidFill>
              <a:srgbClr val="29B6F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3716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Pharmacy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" y="184708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dispensary, delivery or collect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633472"/>
            <a:ext cx="2194560" cy="822960"/>
          </a:xfrm>
          <a:prstGeom prst="rect">
            <a:avLst/>
          </a:prstGeom>
          <a:solidFill>
            <a:srgbClr val="003040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697480"/>
            <a:ext cx="21579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list + 8% per order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703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Zero risk to start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26664" y="950976"/>
            <a:ext cx="3182112" cy="4142232"/>
          </a:xfrm>
          <a:prstGeom prst="rect">
            <a:avLst/>
          </a:prstGeom>
          <a:solidFill>
            <a:srgbClr val="29B6F6">
              <a:alpha val="25000"/>
            </a:srgbClr>
          </a:solidFill>
          <a:ln w="12700">
            <a:solidFill>
              <a:srgbClr val="29B6F6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63240" y="987552"/>
            <a:ext cx="3108960" cy="4069080"/>
          </a:xfrm>
          <a:prstGeom prst="rect">
            <a:avLst/>
          </a:prstGeom>
          <a:solidFill>
            <a:srgbClr val="0D1B2E"/>
          </a:solidFill>
          <a:ln w="25400">
            <a:solidFill>
              <a:srgbClr val="29B6F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063240" y="987552"/>
            <a:ext cx="3108960" cy="384048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63240" y="98755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63240" y="14630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Group (2–10)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00400" y="193852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dashboard, stock-level alerts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46120" y="2724912"/>
            <a:ext cx="2743200" cy="822960"/>
          </a:xfrm>
          <a:prstGeom prst="rect">
            <a:avLst/>
          </a:prstGeom>
          <a:solidFill>
            <a:srgbClr val="003040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64408" y="2788920"/>
            <a:ext cx="27066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R1,000/month + 6% per order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37947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Best value for growing providers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18504" y="1152144"/>
            <a:ext cx="2633472" cy="3730752"/>
          </a:xfrm>
          <a:prstGeom prst="rect">
            <a:avLst/>
          </a:prstGeom>
          <a:solidFill>
            <a:srgbClr val="29B6F6">
              <a:alpha val="10000"/>
            </a:srgbClr>
          </a:solidFill>
          <a:ln w="12700">
            <a:solidFill>
              <a:srgbClr val="29B6F6">
                <a:alpha val="1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1188720"/>
            <a:ext cx="2560320" cy="3657600"/>
          </a:xfrm>
          <a:prstGeom prst="rect">
            <a:avLst/>
          </a:prstGeom>
          <a:solidFill>
            <a:srgbClr val="0F2035"/>
          </a:solidFill>
          <a:ln w="12700">
            <a:solidFill>
              <a:srgbClr val="29B6F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55080" y="13716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/ Franchise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92240" y="184708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integration, custom workflows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37960" y="2633472"/>
            <a:ext cx="2194560" cy="822960"/>
          </a:xfrm>
          <a:prstGeom prst="rect">
            <a:avLst/>
          </a:prstGeom>
          <a:solidFill>
            <a:srgbClr val="003040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56248" y="2697480"/>
            <a:ext cx="21579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pricing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3703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For high-volume operations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PERFORMANCE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MGT Pharmacy Works.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92608" y="1097280"/>
            <a:ext cx="1938528" cy="1417320"/>
          </a:xfrm>
          <a:prstGeom prst="rect">
            <a:avLst/>
          </a:prstGeom>
          <a:solidFill>
            <a:srgbClr val="29B6F6">
              <a:alpha val="14000"/>
            </a:srgbClr>
          </a:solidFill>
          <a:ln w="12700">
            <a:solidFill>
              <a:srgbClr val="29B6F6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24712"/>
            <a:ext cx="1883664" cy="1389888"/>
          </a:xfrm>
          <a:prstGeom prst="rect">
            <a:avLst/>
          </a:prstGeom>
          <a:solidFill>
            <a:srgbClr val="0F2035"/>
          </a:solidFill>
          <a:ln w="25400">
            <a:solidFill>
              <a:srgbClr val="29B6F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188720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Pharmacies Listed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1883664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&amp; Verified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1097280"/>
            <a:ext cx="1938528" cy="1417320"/>
          </a:xfrm>
          <a:prstGeom prst="rect">
            <a:avLst/>
          </a:prstGeom>
          <a:solidFill>
            <a:srgbClr val="29B6F6">
              <a:alpha val="14000"/>
            </a:srgbClr>
          </a:solidFill>
          <a:ln w="12700">
            <a:solidFill>
              <a:srgbClr val="29B6F6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1124712"/>
            <a:ext cx="1883664" cy="1389888"/>
          </a:xfrm>
          <a:prstGeom prst="rect">
            <a:avLst/>
          </a:prstGeom>
          <a:solidFill>
            <a:srgbClr val="0F2035"/>
          </a:solidFill>
          <a:ln w="25400">
            <a:solidFill>
              <a:srgbClr val="29B6F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188720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Processing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468880" y="1883664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4 Hours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90288" y="1097280"/>
            <a:ext cx="1938528" cy="1417320"/>
          </a:xfrm>
          <a:prstGeom prst="rect">
            <a:avLst/>
          </a:prstGeom>
          <a:solidFill>
            <a:srgbClr val="29B6F6">
              <a:alpha val="14000"/>
            </a:srgbClr>
          </a:solidFill>
          <a:ln w="12700">
            <a:solidFill>
              <a:srgbClr val="29B6F6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1124712"/>
            <a:ext cx="1883664" cy="1389888"/>
          </a:xfrm>
          <a:prstGeom prst="rect">
            <a:avLst/>
          </a:prstGeom>
          <a:solidFill>
            <a:srgbClr val="0F2035"/>
          </a:solidFill>
          <a:ln w="25400">
            <a:solidFill>
              <a:srgbClr val="29B6F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17720" y="1188720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Rating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617720" y="1883664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4.8 / 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39128" y="1097280"/>
            <a:ext cx="1938528" cy="1417320"/>
          </a:xfrm>
          <a:prstGeom prst="rect">
            <a:avLst/>
          </a:prstGeom>
          <a:solidFill>
            <a:srgbClr val="29B6F6">
              <a:alpha val="14000"/>
            </a:srgbClr>
          </a:solidFill>
          <a:ln w="12700">
            <a:solidFill>
              <a:srgbClr val="29B6F6">
                <a:alpha val="1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0" y="1124712"/>
            <a:ext cx="1883664" cy="1389888"/>
          </a:xfrm>
          <a:prstGeom prst="rect">
            <a:avLst/>
          </a:prstGeom>
          <a:solidFill>
            <a:srgbClr val="0F2035"/>
          </a:solidFill>
          <a:ln w="25400">
            <a:solidFill>
              <a:srgbClr val="29B6F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66560" y="1188720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Prescriptions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766560" y="1883664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Monthly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788920"/>
            <a:ext cx="2697480" cy="2148840"/>
          </a:xfrm>
          <a:prstGeom prst="rect">
            <a:avLst/>
          </a:prstGeom>
          <a:solidFill>
            <a:srgbClr val="0F2035"/>
          </a:solidFill>
          <a:ln w="10160">
            <a:solidFill>
              <a:srgbClr val="29B6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" y="2944368"/>
            <a:ext cx="548640" cy="548640"/>
          </a:xfrm>
          <a:prstGeom prst="ellipse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2971800"/>
            <a:ext cx="493776" cy="49377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143000" y="29992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Verified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57200" y="361188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Pharmacy provider on MGT is credential-checked before going live on the platform.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227832" y="2788920"/>
            <a:ext cx="2697480" cy="2148840"/>
          </a:xfrm>
          <a:prstGeom prst="rect">
            <a:avLst/>
          </a:prstGeom>
          <a:solidFill>
            <a:srgbClr val="0F2035"/>
          </a:solidFill>
          <a:ln w="10160">
            <a:solidFill>
              <a:srgbClr val="29B6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392424" y="2944368"/>
            <a:ext cx="548640" cy="548640"/>
          </a:xfrm>
          <a:prstGeom prst="ellipse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56" y="2971800"/>
            <a:ext cx="493776" cy="493776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4050792" y="29992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 by Real Users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3364992" y="361188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reviews are from confirmed bookings. No fake ratings — just honest client feedback.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6135624" y="2788920"/>
            <a:ext cx="2697480" cy="2148840"/>
          </a:xfrm>
          <a:prstGeom prst="rect">
            <a:avLst/>
          </a:prstGeom>
          <a:solidFill>
            <a:srgbClr val="0F2035"/>
          </a:solidFill>
          <a:ln w="10160">
            <a:solidFill>
              <a:srgbClr val="29B6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6300216" y="2944368"/>
            <a:ext cx="548640" cy="548640"/>
          </a:xfrm>
          <a:prstGeom prst="ellipse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2971800"/>
            <a:ext cx="493776" cy="493776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958584" y="29992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POPIA Compliant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6272784" y="361188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client data and your business data are protected by South Africa's data privacy law.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Your Pharmacy Business in 3 Steps.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880360" y="1965960"/>
            <a:ext cx="338328" cy="73152"/>
          </a:xfrm>
          <a:prstGeom prst="rect">
            <a:avLst/>
          </a:prstGeom>
          <a:solidFill>
            <a:srgbClr val="29B6F6">
              <a:alpha val="50000"/>
            </a:srgbClr>
          </a:solidFill>
          <a:ln w="12700">
            <a:solidFill>
              <a:srgbClr val="29B6F6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" y="1078992"/>
            <a:ext cx="2724912" cy="3840480"/>
          </a:xfrm>
          <a:prstGeom prst="rect">
            <a:avLst/>
          </a:prstGeom>
          <a:solidFill>
            <a:srgbClr val="29B6F6">
              <a:alpha val="10000"/>
            </a:srgbClr>
          </a:solidFill>
          <a:ln w="12700">
            <a:solidFill>
              <a:srgbClr val="29B6F6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06424"/>
            <a:ext cx="2670048" cy="3813048"/>
          </a:xfrm>
          <a:prstGeom prst="rect">
            <a:avLst/>
          </a:prstGeom>
          <a:solidFill>
            <a:srgbClr val="0F2035"/>
          </a:solidFill>
          <a:ln w="19050">
            <a:solidFill>
              <a:srgbClr val="29B6F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34440" y="1005840"/>
            <a:ext cx="749808" cy="749808"/>
          </a:xfrm>
          <a:prstGeom prst="ellipse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00584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1920240"/>
            <a:ext cx="914400" cy="914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74320" y="299923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Online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11480" y="3474720"/>
            <a:ext cx="23957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mgucatech.com and submit your provider application with your credentials and business details.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824728" y="1965960"/>
            <a:ext cx="338328" cy="73152"/>
          </a:xfrm>
          <a:prstGeom prst="rect">
            <a:avLst/>
          </a:prstGeom>
          <a:solidFill>
            <a:srgbClr val="29B6F6">
              <a:alpha val="50000"/>
            </a:srgbClr>
          </a:solidFill>
          <a:ln w="12700">
            <a:solidFill>
              <a:srgbClr val="29B6F6">
                <a:alpha val="5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191256" y="1078992"/>
            <a:ext cx="2724912" cy="3840480"/>
          </a:xfrm>
          <a:prstGeom prst="rect">
            <a:avLst/>
          </a:prstGeom>
          <a:solidFill>
            <a:srgbClr val="29B6F6">
              <a:alpha val="10000"/>
            </a:srgbClr>
          </a:solidFill>
          <a:ln w="12700">
            <a:solidFill>
              <a:srgbClr val="29B6F6">
                <a:alpha val="1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18688" y="1106424"/>
            <a:ext cx="2670048" cy="3813048"/>
          </a:xfrm>
          <a:prstGeom prst="rect">
            <a:avLst/>
          </a:prstGeom>
          <a:solidFill>
            <a:srgbClr val="0F2035"/>
          </a:solidFill>
          <a:ln w="19050">
            <a:solidFill>
              <a:srgbClr val="29B6F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178808" y="1005840"/>
            <a:ext cx="749808" cy="749808"/>
          </a:xfrm>
          <a:prstGeom prst="ellipse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78808" y="100584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5656" y="1920240"/>
            <a:ext cx="914400" cy="9144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218688" y="299923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Verified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3355848" y="3474720"/>
            <a:ext cx="23957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 reviews your application within 24 hours. We verify your credentials, licences, and identity.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135624" y="1078992"/>
            <a:ext cx="2724912" cy="3840480"/>
          </a:xfrm>
          <a:prstGeom prst="rect">
            <a:avLst/>
          </a:prstGeom>
          <a:solidFill>
            <a:srgbClr val="29B6F6">
              <a:alpha val="10000"/>
            </a:srgbClr>
          </a:solidFill>
          <a:ln w="12700">
            <a:solidFill>
              <a:srgbClr val="29B6F6">
                <a:alpha val="1000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163056" y="1106424"/>
            <a:ext cx="2670048" cy="3813048"/>
          </a:xfrm>
          <a:prstGeom prst="rect">
            <a:avLst/>
          </a:prstGeom>
          <a:solidFill>
            <a:srgbClr val="0F2035"/>
          </a:solidFill>
          <a:ln w="19050">
            <a:solidFill>
              <a:srgbClr val="29B6F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7123176" y="1005840"/>
            <a:ext cx="749808" cy="749808"/>
          </a:xfrm>
          <a:prstGeom prst="ellipse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123176" y="100584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0024" y="1920240"/>
            <a:ext cx="914400" cy="9144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163056" y="299923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 &amp; Earn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6300216" y="3474720"/>
            <a:ext cx="23957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profile goes live. Customers start finding and booking you immediately through the MGT chat flow.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29B6F6">
              <a:alpha val="8000"/>
            </a:srgbClr>
          </a:solidFill>
          <a:ln w="12700">
            <a:solidFill>
              <a:srgbClr val="29B6F6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914400"/>
            <a:ext cx="4572000" cy="4572000"/>
          </a:xfrm>
          <a:prstGeom prst="ellipse">
            <a:avLst/>
          </a:prstGeom>
          <a:solidFill>
            <a:srgbClr val="29B6F6">
              <a:alpha val="10000"/>
            </a:srgbClr>
          </a:solidFill>
          <a:ln w="12700">
            <a:solidFill>
              <a:srgbClr val="29B6F6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840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700" kern="0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JOIN?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your Pharmacy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on MGT today.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1214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Medications &amp; Health Products, Fast.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04088" y="2761488"/>
            <a:ext cx="2395728" cy="530352"/>
          </a:xfrm>
          <a:prstGeom prst="rect">
            <a:avLst/>
          </a:prstGeom>
          <a:solidFill>
            <a:srgbClr val="29B6F6">
              <a:alpha val="10000"/>
            </a:srgbClr>
          </a:solidFill>
          <a:ln w="12700">
            <a:solidFill>
              <a:srgbClr val="29B6F6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788920"/>
            <a:ext cx="2340864" cy="502920"/>
          </a:xfrm>
          <a:prstGeom prst="rect">
            <a:avLst/>
          </a:prstGeom>
          <a:solidFill>
            <a:srgbClr val="0F2035"/>
          </a:solidFill>
          <a:ln w="15240">
            <a:solidFill>
              <a:srgbClr val="29B6F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871216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07008" y="287121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admin@mgucatech.com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401568" y="2761488"/>
            <a:ext cx="2395728" cy="530352"/>
          </a:xfrm>
          <a:prstGeom prst="rect">
            <a:avLst/>
          </a:prstGeom>
          <a:solidFill>
            <a:srgbClr val="29B6F6">
              <a:alpha val="10000"/>
            </a:srgbClr>
          </a:solidFill>
          <a:ln w="12700">
            <a:solidFill>
              <a:srgbClr val="29B6F6">
                <a:alpha val="1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29000" y="2788920"/>
            <a:ext cx="2340864" cy="502920"/>
          </a:xfrm>
          <a:prstGeom prst="rect">
            <a:avLst/>
          </a:prstGeom>
          <a:solidFill>
            <a:srgbClr val="0F2035"/>
          </a:solidFill>
          <a:ln w="15240">
            <a:solidFill>
              <a:srgbClr val="29B6F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728" y="2871216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04488" y="287121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076 047 0141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99048" y="2761488"/>
            <a:ext cx="2395728" cy="530352"/>
          </a:xfrm>
          <a:prstGeom prst="rect">
            <a:avLst/>
          </a:prstGeom>
          <a:solidFill>
            <a:srgbClr val="29B6F6">
              <a:alpha val="10000"/>
            </a:srgbClr>
          </a:solidFill>
          <a:ln w="12700">
            <a:solidFill>
              <a:srgbClr val="29B6F6">
                <a:alpha val="10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126480" y="2788920"/>
            <a:ext cx="2340864" cy="502920"/>
          </a:xfrm>
          <a:prstGeom prst="rect">
            <a:avLst/>
          </a:prstGeom>
          <a:solidFill>
            <a:srgbClr val="0F2035"/>
          </a:solidFill>
          <a:ln w="15240">
            <a:solidFill>
              <a:srgbClr val="29B6F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2871216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01968" y="287121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www.mgucatech.com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3931920" y="3520440"/>
            <a:ext cx="1280160" cy="1280160"/>
          </a:xfrm>
          <a:prstGeom prst="ellipse">
            <a:avLst/>
          </a:prstGeom>
          <a:solidFill>
            <a:srgbClr val="003040"/>
          </a:solidFill>
          <a:ln w="31750">
            <a:solidFill>
              <a:srgbClr val="29B6F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3088" y="3721608"/>
            <a:ext cx="877824" cy="87782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57200" y="481888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MGT PHARMACY  ·  MgucaTECH  ·  Version 1.0  ·  2025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0" y="4773168"/>
            <a:ext cx="1324574" cy="365760"/>
          </a:xfrm>
          <a:prstGeom prst="rect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306286" y="4773168"/>
            <a:ext cx="1324574" cy="36576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2612571" y="4773168"/>
            <a:ext cx="1324574" cy="365760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918857" y="4773168"/>
            <a:ext cx="1324574" cy="36576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5225143" y="4773168"/>
            <a:ext cx="1324574" cy="365760"/>
          </a:xfrm>
          <a:prstGeom prst="rect">
            <a:avLst/>
          </a:prstGeom>
          <a:solidFill>
            <a:srgbClr val="FF6EC7"/>
          </a:solidFill>
          <a:ln w="12700">
            <a:solidFill>
              <a:srgbClr val="FF6EC7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531429" y="4773168"/>
            <a:ext cx="1324574" cy="365760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837714" y="4773168"/>
            <a:ext cx="1324574" cy="36576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MGT – Pharmacy Platform Deck</dc:title>
  <dc:subject>PptxGenJS Presentation</dc:subject>
  <dc:creator>PptxGenJS</dc:creator>
  <cp:lastModifiedBy>PptxGenJS</cp:lastModifiedBy>
  <cp:revision>1</cp:revision>
  <dcterms:created xsi:type="dcterms:W3CDTF">2026-05-16T12:06:11Z</dcterms:created>
  <dcterms:modified xsi:type="dcterms:W3CDTF">2026-05-16T12:06:11Z</dcterms:modified>
</cp:coreProperties>
</file>