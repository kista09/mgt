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A2E4A">
              <a:alpha val="40000"/>
            </a:srgbClr>
          </a:solidFill>
          <a:ln w="12700">
            <a:solidFill>
              <a:srgbClr val="1A2E4A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"/>
          </a:xfrm>
          <a:prstGeom prst="rect">
            <a:avLst/>
          </a:prstGeom>
          <a:solidFill>
            <a:srgbClr val="1A2E4A">
              <a:alpha val="40000"/>
            </a:srgbClr>
          </a:solidFill>
          <a:ln w="12700">
            <a:solidFill>
              <a:srgbClr val="1A2E4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37360"/>
            <a:ext cx="9144000" cy="4572"/>
          </a:xfrm>
          <a:prstGeom prst="rect">
            <a:avLst/>
          </a:prstGeom>
          <a:solidFill>
            <a:srgbClr val="1A2E4A">
              <a:alpha val="40000"/>
            </a:srgbClr>
          </a:solidFill>
          <a:ln w="12700">
            <a:solidFill>
              <a:srgbClr val="1A2E4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606040"/>
            <a:ext cx="9144000" cy="4572"/>
          </a:xfrm>
          <a:prstGeom prst="rect">
            <a:avLst/>
          </a:prstGeom>
          <a:solidFill>
            <a:srgbClr val="1A2E4A">
              <a:alpha val="40000"/>
            </a:srgbClr>
          </a:solidFill>
          <a:ln w="12700">
            <a:solidFill>
              <a:srgbClr val="1A2E4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74720"/>
            <a:ext cx="9144000" cy="4572"/>
          </a:xfrm>
          <a:prstGeom prst="rect">
            <a:avLst/>
          </a:prstGeom>
          <a:solidFill>
            <a:srgbClr val="1A2E4A">
              <a:alpha val="40000"/>
            </a:srgbClr>
          </a:solidFill>
          <a:ln w="12700">
            <a:solidFill>
              <a:srgbClr val="1A2E4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343400"/>
            <a:ext cx="9144000" cy="4572"/>
          </a:xfrm>
          <a:prstGeom prst="rect">
            <a:avLst/>
          </a:prstGeom>
          <a:solidFill>
            <a:srgbClr val="1A2E4A">
              <a:alpha val="40000"/>
            </a:srgbClr>
          </a:solidFill>
          <a:ln w="12700">
            <a:solidFill>
              <a:srgbClr val="1A2E4A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B3A6B">
              <a:alpha val="30000"/>
            </a:srgbClr>
          </a:solidFill>
          <a:ln w="12700">
            <a:solidFill>
              <a:srgbClr val="1B3A6B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320040"/>
            <a:ext cx="594360" cy="594360"/>
          </a:xfrm>
          <a:prstGeom prst="ellipse">
            <a:avLst/>
          </a:prstGeom>
          <a:solidFill>
            <a:srgbClr val="FF4081">
              <a:alpha val="70000"/>
            </a:srgbClr>
          </a:solidFill>
          <a:ln w="12700">
            <a:solidFill>
              <a:srgbClr val="FF4081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69480" y="320040"/>
            <a:ext cx="594360" cy="594360"/>
          </a:xfrm>
          <a:prstGeom prst="ellipse">
            <a:avLst/>
          </a:prstGeom>
          <a:solidFill>
            <a:srgbClr val="FFB300">
              <a:alpha val="70000"/>
            </a:srgbClr>
          </a:solidFill>
          <a:ln w="12700">
            <a:solidFill>
              <a:srgbClr val="FFB300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320040"/>
            <a:ext cx="594360" cy="594360"/>
          </a:xfrm>
          <a:prstGeom prst="ellipse">
            <a:avLst/>
          </a:prstGeom>
          <a:solidFill>
            <a:srgbClr val="9C6FD6">
              <a:alpha val="70000"/>
            </a:srgbClr>
          </a:solidFill>
          <a:ln w="12700">
            <a:solidFill>
              <a:srgbClr val="9C6FD6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097280"/>
            <a:ext cx="594360" cy="594360"/>
          </a:xfrm>
          <a:prstGeom prst="ellipse">
            <a:avLst/>
          </a:prstGeom>
          <a:solidFill>
            <a:srgbClr val="00C853">
              <a:alpha val="70000"/>
            </a:srgbClr>
          </a:solidFill>
          <a:ln w="12700">
            <a:solidFill>
              <a:srgbClr val="00C853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69480" y="1097280"/>
            <a:ext cx="594360" cy="594360"/>
          </a:xfrm>
          <a:prstGeom prst="ellipse">
            <a:avLst/>
          </a:prstGeom>
          <a:solidFill>
            <a:srgbClr val="FF6EC7">
              <a:alpha val="70000"/>
            </a:srgbClr>
          </a:solidFill>
          <a:ln w="12700">
            <a:solidFill>
              <a:srgbClr val="FF6EC7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097280"/>
            <a:ext cx="594360" cy="594360"/>
          </a:xfrm>
          <a:prstGeom prst="ellipse">
            <a:avLst/>
          </a:prstGeom>
          <a:solidFill>
            <a:srgbClr val="29B6F6">
              <a:alpha val="70000"/>
            </a:srgbClr>
          </a:solidFill>
          <a:ln w="12700">
            <a:solidFill>
              <a:srgbClr val="29B6F6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7315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</a:t>
            </a:r>
            <a:endParaRPr lang="en-US" sz="9600" dirty="0"/>
          </a:p>
        </p:txBody>
      </p:sp>
      <p:sp>
        <p:nvSpPr>
          <p:cNvPr id="16" name="Text 14"/>
          <p:cNvSpPr/>
          <p:nvPr/>
        </p:nvSpPr>
        <p:spPr>
          <a:xfrm>
            <a:off x="530352" y="19933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300" kern="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MgucaTECH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530352" y="2542032"/>
            <a:ext cx="4114800" cy="4572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697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city's services, one tap away.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2920" y="4160520"/>
            <a:ext cx="1261872" cy="621792"/>
          </a:xfrm>
          <a:prstGeom prst="roundRect">
            <a:avLst>
              <a:gd name="adj" fmla="val 17647"/>
            </a:avLst>
          </a:prstGeom>
          <a:solidFill>
            <a:srgbClr val="4A0020"/>
          </a:solidFill>
          <a:ln w="19050">
            <a:solidFill>
              <a:srgbClr val="FF40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160520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938528" y="4160520"/>
            <a:ext cx="1261872" cy="621792"/>
          </a:xfrm>
          <a:prstGeom prst="roundRect">
            <a:avLst>
              <a:gd name="adj" fmla="val 17647"/>
            </a:avLst>
          </a:prstGeom>
          <a:solidFill>
            <a:srgbClr val="4A2E00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38528" y="4160520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74136" y="4160520"/>
            <a:ext cx="1261872" cy="621792"/>
          </a:xfrm>
          <a:prstGeom prst="roundRect">
            <a:avLst>
              <a:gd name="adj" fmla="val 17647"/>
            </a:avLst>
          </a:prstGeom>
          <a:solidFill>
            <a:srgbClr val="2D1A4A"/>
          </a:solidFill>
          <a:ln w="19050">
            <a:solidFill>
              <a:srgbClr val="9C6F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74136" y="4160520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9744" y="4160520"/>
            <a:ext cx="1261872" cy="621792"/>
          </a:xfrm>
          <a:prstGeom prst="roundRect">
            <a:avLst>
              <a:gd name="adj" fmla="val 17647"/>
            </a:avLst>
          </a:prstGeom>
          <a:solidFill>
            <a:srgbClr val="003D18"/>
          </a:solidFill>
          <a:ln w="19050">
            <a:solidFill>
              <a:srgbClr val="00C8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4160520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45352" y="4160520"/>
            <a:ext cx="1261872" cy="621792"/>
          </a:xfrm>
          <a:prstGeom prst="roundRect">
            <a:avLst>
              <a:gd name="adj" fmla="val 17647"/>
            </a:avLst>
          </a:prstGeom>
          <a:solidFill>
            <a:srgbClr val="4A0035"/>
          </a:solidFill>
          <a:ln w="19050">
            <a:solidFill>
              <a:srgbClr val="FF6E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45352" y="4160520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680960" y="4160520"/>
            <a:ext cx="1261872" cy="621792"/>
          </a:xfrm>
          <a:prstGeom prst="roundRect">
            <a:avLst>
              <a:gd name="adj" fmla="val 17647"/>
            </a:avLst>
          </a:prstGeom>
          <a:solidFill>
            <a:srgbClr val="003A52"/>
          </a:solidFill>
          <a:ln w="19050">
            <a:solidFill>
              <a:srgbClr val="29B6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4160520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·  2025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MGT?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Six services.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city.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4206240" cy="123444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F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737360"/>
            <a:ext cx="64008" cy="123444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 (MgucaTECH) is a smart service-booking platform that connects users directly with trusted, local service providers across six essential categories — via an intuitive live chat flow interface.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2697480" cy="1783080"/>
          </a:xfrm>
          <a:prstGeom prst="rect">
            <a:avLst/>
          </a:prstGeom>
          <a:solidFill>
            <a:srgbClr val="132338"/>
          </a:solidFill>
          <a:ln w="15240">
            <a:solidFill>
              <a:srgbClr val="C8960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3291840"/>
            <a:ext cx="502920" cy="502920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3319272"/>
            <a:ext cx="448056" cy="4480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3310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Booking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1792" y="3886200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service category and connect to a provider in seconds via live chat.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64992" y="3154680"/>
            <a:ext cx="2697480" cy="1783080"/>
          </a:xfrm>
          <a:prstGeom prst="rect">
            <a:avLst/>
          </a:prstGeom>
          <a:solidFill>
            <a:srgbClr val="132338"/>
          </a:solidFill>
          <a:ln w="15240">
            <a:solidFill>
              <a:srgbClr val="00C85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29584" y="3291840"/>
            <a:ext cx="502920" cy="50292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3319272"/>
            <a:ext cx="448056" cy="4480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142232" y="3310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529584" y="3886200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on-the-go users. Book any service from any device, anywhere.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72784" y="3154680"/>
            <a:ext cx="2697480" cy="1783080"/>
          </a:xfrm>
          <a:prstGeom prst="rect">
            <a:avLst/>
          </a:prstGeom>
          <a:solidFill>
            <a:srgbClr val="132338"/>
          </a:solidFill>
          <a:ln w="15240">
            <a:solidFill>
              <a:srgbClr val="29B6F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37376" y="3291840"/>
            <a:ext cx="502920" cy="502920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3319272"/>
            <a:ext cx="448056" cy="4480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50024" y="3310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Providers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437376" y="3886200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listed providers are vetted, verified, and rated by real users.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👋  Welcome to MGT. Select the service you'd like to book.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8328" y="1069848"/>
            <a:ext cx="4261104" cy="1152144"/>
          </a:xfrm>
          <a:prstGeom prst="rect">
            <a:avLst/>
          </a:prstGeom>
          <a:solidFill>
            <a:srgbClr val="FF4081">
              <a:alpha val="18000"/>
            </a:srgbClr>
          </a:solidFill>
          <a:ln w="12700">
            <a:solidFill>
              <a:srgbClr val="FF408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206240" cy="1097280"/>
          </a:xfrm>
          <a:prstGeom prst="rect">
            <a:avLst/>
          </a:prstGeom>
          <a:solidFill>
            <a:srgbClr val="132338"/>
          </a:solidFill>
          <a:ln w="19050">
            <a:solidFill>
              <a:srgbClr val="FF40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371600"/>
            <a:ext cx="548640" cy="548640"/>
          </a:xfrm>
          <a:prstGeom prst="ellipse">
            <a:avLst/>
          </a:prstGeom>
          <a:solidFill>
            <a:srgbClr val="4A0020"/>
          </a:solidFill>
          <a:ln w="12700">
            <a:solidFill>
              <a:srgbClr val="FF408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99032"/>
            <a:ext cx="493776" cy="493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4447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818888" y="1069848"/>
            <a:ext cx="4261104" cy="1152144"/>
          </a:xfrm>
          <a:prstGeom prst="rect">
            <a:avLst/>
          </a:prstGeom>
          <a:solidFill>
            <a:srgbClr val="FFB300">
              <a:alpha val="18000"/>
            </a:srgbClr>
          </a:solidFill>
          <a:ln w="12700">
            <a:solidFill>
              <a:srgbClr val="FFB300">
                <a:alpha val="1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1097280"/>
            <a:ext cx="4206240" cy="1097280"/>
          </a:xfrm>
          <a:prstGeom prst="rect">
            <a:avLst/>
          </a:prstGeom>
          <a:solidFill>
            <a:srgbClr val="132338"/>
          </a:solidFill>
          <a:ln w="19050">
            <a:solidFill>
              <a:srgbClr val="FFB3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47488" y="1371600"/>
            <a:ext cx="548640" cy="548640"/>
          </a:xfrm>
          <a:prstGeom prst="ellipse">
            <a:avLst/>
          </a:prstGeom>
          <a:solidFill>
            <a:srgbClr val="4A2E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99032"/>
            <a:ext cx="493776" cy="4937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60720" y="14447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338328" y="2368296"/>
            <a:ext cx="4261104" cy="1152144"/>
          </a:xfrm>
          <a:prstGeom prst="rect">
            <a:avLst/>
          </a:prstGeom>
          <a:solidFill>
            <a:srgbClr val="9C6FD6">
              <a:alpha val="18000"/>
            </a:srgbClr>
          </a:solidFill>
          <a:ln w="12700">
            <a:solidFill>
              <a:srgbClr val="9C6FD6">
                <a:alpha val="1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65760" y="2395728"/>
            <a:ext cx="4206240" cy="1097280"/>
          </a:xfrm>
          <a:prstGeom prst="rect">
            <a:avLst/>
          </a:prstGeom>
          <a:solidFill>
            <a:srgbClr val="132338"/>
          </a:solidFill>
          <a:ln w="19050">
            <a:solidFill>
              <a:srgbClr val="9C6FD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66928" y="2670048"/>
            <a:ext cx="548640" cy="548640"/>
          </a:xfrm>
          <a:prstGeom prst="ellipse">
            <a:avLst/>
          </a:prstGeom>
          <a:solidFill>
            <a:srgbClr val="2D1A4A"/>
          </a:solidFill>
          <a:ln w="12700">
            <a:solidFill>
              <a:srgbClr val="9C6FD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697480"/>
            <a:ext cx="493776" cy="4937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2743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4818888" y="2368296"/>
            <a:ext cx="4261104" cy="1152144"/>
          </a:xfrm>
          <a:prstGeom prst="rect">
            <a:avLst/>
          </a:prstGeom>
          <a:solidFill>
            <a:srgbClr val="00C853">
              <a:alpha val="18000"/>
            </a:srgbClr>
          </a:solidFill>
          <a:ln w="12700">
            <a:solidFill>
              <a:srgbClr val="00C853">
                <a:alpha val="18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46320" y="2395728"/>
            <a:ext cx="4206240" cy="1097280"/>
          </a:xfrm>
          <a:prstGeom prst="rect">
            <a:avLst/>
          </a:prstGeom>
          <a:solidFill>
            <a:srgbClr val="132338"/>
          </a:solidFill>
          <a:ln w="19050">
            <a:solidFill>
              <a:srgbClr val="00C85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047488" y="2670048"/>
            <a:ext cx="548640" cy="548640"/>
          </a:xfrm>
          <a:prstGeom prst="ellipse">
            <a:avLst/>
          </a:prstGeom>
          <a:solidFill>
            <a:srgbClr val="003D18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697480"/>
            <a:ext cx="493776" cy="49377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60720" y="2743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338328" y="3666744"/>
            <a:ext cx="4261104" cy="1152144"/>
          </a:xfrm>
          <a:prstGeom prst="rect">
            <a:avLst/>
          </a:prstGeom>
          <a:solidFill>
            <a:srgbClr val="FF6EC7">
              <a:alpha val="18000"/>
            </a:srgbClr>
          </a:solidFill>
          <a:ln w="12700">
            <a:solidFill>
              <a:srgbClr val="FF6EC7">
                <a:alpha val="18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65760" y="3694176"/>
            <a:ext cx="4206240" cy="1097280"/>
          </a:xfrm>
          <a:prstGeom prst="rect">
            <a:avLst/>
          </a:prstGeom>
          <a:solidFill>
            <a:srgbClr val="132338"/>
          </a:solidFill>
          <a:ln w="19050">
            <a:solidFill>
              <a:srgbClr val="FF6EC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66928" y="3968496"/>
            <a:ext cx="548640" cy="548640"/>
          </a:xfrm>
          <a:prstGeom prst="ellipse">
            <a:avLst/>
          </a:prstGeom>
          <a:solidFill>
            <a:srgbClr val="4A0035"/>
          </a:solidFill>
          <a:ln w="12700">
            <a:solidFill>
              <a:srgbClr val="FF6EC7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995928"/>
            <a:ext cx="493776" cy="49377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80160" y="40416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</a:t>
            </a:r>
            <a:endParaRPr lang="en-US" sz="2000" dirty="0"/>
          </a:p>
        </p:txBody>
      </p:sp>
      <p:sp>
        <p:nvSpPr>
          <p:cNvPr id="29" name="Shape 22"/>
          <p:cNvSpPr/>
          <p:nvPr/>
        </p:nvSpPr>
        <p:spPr>
          <a:xfrm>
            <a:off x="4818888" y="3666744"/>
            <a:ext cx="4261104" cy="1152144"/>
          </a:xfrm>
          <a:prstGeom prst="rect">
            <a:avLst/>
          </a:prstGeom>
          <a:solidFill>
            <a:srgbClr val="29B6F6">
              <a:alpha val="18000"/>
            </a:srgbClr>
          </a:solidFill>
          <a:ln w="12700">
            <a:solidFill>
              <a:srgbClr val="29B6F6">
                <a:alpha val="18000"/>
              </a:srgbClr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846320" y="3694176"/>
            <a:ext cx="4206240" cy="1097280"/>
          </a:xfrm>
          <a:prstGeom prst="rect">
            <a:avLst/>
          </a:prstGeom>
          <a:solidFill>
            <a:srgbClr val="132338"/>
          </a:solidFill>
          <a:ln w="19050">
            <a:solidFill>
              <a:srgbClr val="29B6F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5047488" y="3968496"/>
            <a:ext cx="548640" cy="548640"/>
          </a:xfrm>
          <a:prstGeom prst="ellipse">
            <a:avLst/>
          </a:prstGeom>
          <a:solidFill>
            <a:srgbClr val="003A52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995928"/>
            <a:ext cx="493776" cy="49377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760720" y="40416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2000" dirty="0"/>
          </a:p>
        </p:txBody>
      </p:sp>
      <p:sp>
        <p:nvSpPr>
          <p:cNvPr id="34" name="Shape 26"/>
          <p:cNvSpPr/>
          <p:nvPr/>
        </p:nvSpPr>
        <p:spPr>
          <a:xfrm>
            <a:off x="1463040" y="4645152"/>
            <a:ext cx="6217920" cy="384048"/>
          </a:xfrm>
          <a:prstGeom prst="roundRect">
            <a:avLst>
              <a:gd name="adj" fmla="val 19048"/>
            </a:avLst>
          </a:prstGeom>
          <a:solidFill>
            <a:srgbClr val="0D3B1E"/>
          </a:solidFill>
          <a:ln w="19050">
            <a:solidFill>
              <a:srgbClr val="00C853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3120" y="4690872"/>
            <a:ext cx="256032" cy="25603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2468880" y="46817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live chat flow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CHAT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booking experience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517904" y="2084832"/>
            <a:ext cx="201168" cy="73152"/>
          </a:xfrm>
          <a:prstGeom prst="rect">
            <a:avLst/>
          </a:prstGeom>
          <a:solidFill>
            <a:srgbClr val="FF4081">
              <a:alpha val="60000"/>
            </a:srgbClr>
          </a:solidFill>
          <a:ln w="12700">
            <a:solidFill>
              <a:srgbClr val="FF4081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97280"/>
            <a:ext cx="1280160" cy="1280160"/>
          </a:xfrm>
          <a:prstGeom prst="ellipse">
            <a:avLst/>
          </a:prstGeom>
          <a:solidFill>
            <a:srgbClr val="132338"/>
          </a:solidFill>
          <a:ln w="25400">
            <a:solidFill>
              <a:srgbClr val="FF40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512064" cy="5120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97280" y="1060704"/>
            <a:ext cx="310896" cy="310896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1060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64592" y="24963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64592" y="2834640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MGT and sees 6 service categories on the welcome screen.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980944" y="2084832"/>
            <a:ext cx="201168" cy="73152"/>
          </a:xfrm>
          <a:prstGeom prst="rect">
            <a:avLst/>
          </a:prstGeom>
          <a:solidFill>
            <a:srgbClr val="FFB300">
              <a:alpha val="60000"/>
            </a:srgbClr>
          </a:solidFill>
          <a:ln w="12700">
            <a:solidFill>
              <a:srgbClr val="FFB300">
                <a:alpha val="6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19072" y="1097280"/>
            <a:ext cx="1280160" cy="1280160"/>
          </a:xfrm>
          <a:prstGeom prst="ellipse">
            <a:avLst/>
          </a:prstGeom>
          <a:solidFill>
            <a:srgbClr val="132338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481328"/>
            <a:ext cx="512064" cy="5120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560320" y="1060704"/>
            <a:ext cx="310896" cy="31089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560320" y="1060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627632" y="24963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627632" y="2834640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taps a service card — Medical, Mechanic, Lawyer, and more.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443984" y="2084832"/>
            <a:ext cx="201168" cy="73152"/>
          </a:xfrm>
          <a:prstGeom prst="rect">
            <a:avLst/>
          </a:prstGeom>
          <a:solidFill>
            <a:srgbClr val="9C6FD6">
              <a:alpha val="60000"/>
            </a:srgbClr>
          </a:solidFill>
          <a:ln w="12700">
            <a:solidFill>
              <a:srgbClr val="9C6FD6">
                <a:alpha val="6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182112" y="1097280"/>
            <a:ext cx="1280160" cy="1280160"/>
          </a:xfrm>
          <a:prstGeom prst="ellipse">
            <a:avLst/>
          </a:prstGeom>
          <a:solidFill>
            <a:srgbClr val="132338"/>
          </a:solidFill>
          <a:ln w="25400">
            <a:solidFill>
              <a:srgbClr val="9C6FD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481328"/>
            <a:ext cx="512064" cy="512064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023360" y="1060704"/>
            <a:ext cx="310896" cy="310896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023360" y="1060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3090672" y="24963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Flow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3090672" y="2834640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live chat flow guides the user through their specific needs.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907024" y="2084832"/>
            <a:ext cx="201168" cy="73152"/>
          </a:xfrm>
          <a:prstGeom prst="rect">
            <a:avLst/>
          </a:prstGeom>
          <a:solidFill>
            <a:srgbClr val="00C853">
              <a:alpha val="60000"/>
            </a:srgbClr>
          </a:solidFill>
          <a:ln w="12700">
            <a:solidFill>
              <a:srgbClr val="00C853">
                <a:alpha val="60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645152" y="1097280"/>
            <a:ext cx="1280160" cy="1280160"/>
          </a:xfrm>
          <a:prstGeom prst="ellipse">
            <a:avLst/>
          </a:prstGeom>
          <a:solidFill>
            <a:srgbClr val="132338"/>
          </a:solidFill>
          <a:ln w="25400">
            <a:solidFill>
              <a:srgbClr val="00C85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481328"/>
            <a:ext cx="512064" cy="512064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5486400" y="1060704"/>
            <a:ext cx="310896" cy="310896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486400" y="1060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4553712" y="24963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553712" y="2834640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 matches the user with the best-fit, available local provider.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370064" y="2084832"/>
            <a:ext cx="201168" cy="73152"/>
          </a:xfrm>
          <a:prstGeom prst="rect">
            <a:avLst/>
          </a:prstGeom>
          <a:solidFill>
            <a:srgbClr val="FF6EC7">
              <a:alpha val="60000"/>
            </a:srgbClr>
          </a:solidFill>
          <a:ln w="12700">
            <a:solidFill>
              <a:srgbClr val="FF6EC7">
                <a:alpha val="60000"/>
              </a:srgbClr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108192" y="1097280"/>
            <a:ext cx="1280160" cy="1280160"/>
          </a:xfrm>
          <a:prstGeom prst="ellipse">
            <a:avLst/>
          </a:prstGeom>
          <a:solidFill>
            <a:srgbClr val="132338"/>
          </a:solidFill>
          <a:ln w="25400">
            <a:solidFill>
              <a:srgbClr val="FF6EC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481328"/>
            <a:ext cx="512064" cy="512064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6949440" y="1060704"/>
            <a:ext cx="310896" cy="310896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949440" y="1060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6016752" y="24963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6016752" y="2834640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confirmed instantly with time, location, and provider details.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7571232" y="1097280"/>
            <a:ext cx="1280160" cy="1280160"/>
          </a:xfrm>
          <a:prstGeom prst="ellipse">
            <a:avLst/>
          </a:prstGeom>
          <a:solidFill>
            <a:srgbClr val="132338"/>
          </a:solidFill>
          <a:ln w="25400">
            <a:solidFill>
              <a:srgbClr val="29B6F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1481328"/>
            <a:ext cx="512064" cy="512064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8412480" y="1060704"/>
            <a:ext cx="310896" cy="310896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8412480" y="1060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7479792" y="24963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7479792" y="2834640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Post-service rating, feedback, and ongoing chat support available.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VERTICALS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Wellness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37744" y="1033272"/>
            <a:ext cx="4096512" cy="3886200"/>
          </a:xfrm>
          <a:prstGeom prst="rect">
            <a:avLst/>
          </a:prstGeom>
          <a:solidFill>
            <a:srgbClr val="FF4081">
              <a:alpha val="12000"/>
            </a:srgbClr>
          </a:solidFill>
          <a:ln w="12700">
            <a:solidFill>
              <a:srgbClr val="FF4081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69848"/>
            <a:ext cx="4023360" cy="3849624"/>
          </a:xfrm>
          <a:prstGeom prst="rect">
            <a:avLst/>
          </a:prstGeom>
          <a:solidFill>
            <a:srgbClr val="132338"/>
          </a:solidFill>
          <a:ln w="25400">
            <a:solidFill>
              <a:srgbClr val="FF40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69848"/>
            <a:ext cx="4023360" cy="960120"/>
          </a:xfrm>
          <a:prstGeom prst="rect">
            <a:avLst/>
          </a:prstGeom>
          <a:solidFill>
            <a:srgbClr val="4A0020"/>
          </a:solidFill>
          <a:ln w="12700">
            <a:solidFill>
              <a:srgbClr val="4A002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2344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1704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75488" y="2103120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practitioners, specialists, telehealth &amp; clinic bookings.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" y="2770632"/>
            <a:ext cx="164592" cy="164592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2697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&amp; specialist appointments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" y="3182112"/>
            <a:ext cx="164592" cy="164592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" y="3108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chat consultations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5488" y="3593592"/>
            <a:ext cx="164592" cy="164592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" y="3520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triage guidance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5488" y="4005072"/>
            <a:ext cx="164592" cy="164592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9808" y="3931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referrals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5488" y="4416552"/>
            <a:ext cx="164592" cy="164592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" y="4343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locator &amp; availability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64024" y="1033272"/>
            <a:ext cx="4096512" cy="3886200"/>
          </a:xfrm>
          <a:prstGeom prst="rect">
            <a:avLst/>
          </a:prstGeom>
          <a:solidFill>
            <a:srgbClr val="29B6F6">
              <a:alpha val="12000"/>
            </a:srgbClr>
          </a:solidFill>
          <a:ln w="12700">
            <a:solidFill>
              <a:srgbClr val="29B6F6">
                <a:alpha val="12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00600" y="1069848"/>
            <a:ext cx="4023360" cy="3849624"/>
          </a:xfrm>
          <a:prstGeom prst="rect">
            <a:avLst/>
          </a:prstGeom>
          <a:solidFill>
            <a:srgbClr val="132338"/>
          </a:solidFill>
          <a:ln w="25400">
            <a:solidFill>
              <a:srgbClr val="29B6F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00600" y="1069848"/>
            <a:ext cx="4023360" cy="960120"/>
          </a:xfrm>
          <a:prstGeom prst="rect">
            <a:avLst/>
          </a:prstGeom>
          <a:solidFill>
            <a:srgbClr val="003A52"/>
          </a:solidFill>
          <a:ln w="12700">
            <a:solidFill>
              <a:srgbClr val="003A52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234440"/>
            <a:ext cx="548640" cy="5486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696712" y="11704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5001768" y="2103120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orders, prescription filling &amp; health product bookings.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001768" y="2770632"/>
            <a:ext cx="164592" cy="164592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276088" y="2697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processing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001768" y="3182112"/>
            <a:ext cx="164592" cy="164592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276088" y="3108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OTC product orders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5001768" y="3593592"/>
            <a:ext cx="164592" cy="164592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276088" y="3520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reminders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5001768" y="4005072"/>
            <a:ext cx="164592" cy="164592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276088" y="3931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open pharmacy finder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5001768" y="4416552"/>
            <a:ext cx="164592" cy="164592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276088" y="4343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advice chat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VERTICALS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&amp; Technical Services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37744" y="1033272"/>
            <a:ext cx="4096512" cy="3886200"/>
          </a:xfrm>
          <a:prstGeom prst="rect">
            <a:avLst/>
          </a:prstGeom>
          <a:solidFill>
            <a:srgbClr val="9C6FD6">
              <a:alpha val="12000"/>
            </a:srgbClr>
          </a:solidFill>
          <a:ln w="12700">
            <a:solidFill>
              <a:srgbClr val="9C6FD6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69848"/>
            <a:ext cx="4023360" cy="3849624"/>
          </a:xfrm>
          <a:prstGeom prst="rect">
            <a:avLst/>
          </a:prstGeom>
          <a:solidFill>
            <a:srgbClr val="132338"/>
          </a:solidFill>
          <a:ln w="25400">
            <a:solidFill>
              <a:srgbClr val="9C6FD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69848"/>
            <a:ext cx="4023360" cy="960120"/>
          </a:xfrm>
          <a:prstGeom prst="rect">
            <a:avLst/>
          </a:prstGeom>
          <a:solidFill>
            <a:srgbClr val="2D1A4A"/>
          </a:solidFill>
          <a:ln w="12700">
            <a:solidFill>
              <a:srgbClr val="2D1A4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2344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1704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75488" y="2103120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consultations, document review &amp; attorney appointments.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" y="2770632"/>
            <a:ext cx="164592" cy="164592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2697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legal consultations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" y="3182112"/>
            <a:ext cx="164592" cy="164592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" y="3108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drafting &amp; review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5488" y="3593592"/>
            <a:ext cx="164592" cy="164592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" y="3520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Notary &amp; conveyancing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5488" y="4005072"/>
            <a:ext cx="164592" cy="164592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9808" y="3931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&amp; employment advice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5488" y="4416552"/>
            <a:ext cx="164592" cy="164592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" y="4343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Family, criminal &amp; civil law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64024" y="1033272"/>
            <a:ext cx="4096512" cy="3886200"/>
          </a:xfrm>
          <a:prstGeom prst="rect">
            <a:avLst/>
          </a:prstGeom>
          <a:solidFill>
            <a:srgbClr val="FFB300">
              <a:alpha val="12000"/>
            </a:srgbClr>
          </a:solidFill>
          <a:ln w="12700">
            <a:solidFill>
              <a:srgbClr val="FFB300">
                <a:alpha val="12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00600" y="1069848"/>
            <a:ext cx="4023360" cy="3849624"/>
          </a:xfrm>
          <a:prstGeom prst="rect">
            <a:avLst/>
          </a:prstGeom>
          <a:solidFill>
            <a:srgbClr val="132338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00600" y="1069848"/>
            <a:ext cx="4023360" cy="960120"/>
          </a:xfrm>
          <a:prstGeom prst="rect">
            <a:avLst/>
          </a:prstGeom>
          <a:solidFill>
            <a:srgbClr val="4A2E00"/>
          </a:solidFill>
          <a:ln w="12700">
            <a:solidFill>
              <a:srgbClr val="4A2E00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234440"/>
            <a:ext cx="548640" cy="5486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696712" y="11704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5001768" y="2103120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servicing, repairs &amp; roadside assistance bookings.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001768" y="2770632"/>
            <a:ext cx="164592" cy="164592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276088" y="2697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&amp; maintenance booking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001768" y="3182112"/>
            <a:ext cx="164592" cy="164592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276088" y="3108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Roadside emergency assistance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5001768" y="3593592"/>
            <a:ext cx="164592" cy="164592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276088" y="3520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diagnostics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5001768" y="4005072"/>
            <a:ext cx="164592" cy="164592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276088" y="3931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Tyre, brake &amp; electrical repairs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5001768" y="4416552"/>
            <a:ext cx="164592" cy="164592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276088" y="4343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beating &amp; smash repair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VERTICALS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&amp; Dining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37744" y="1033272"/>
            <a:ext cx="4096512" cy="3886200"/>
          </a:xfrm>
          <a:prstGeom prst="rect">
            <a:avLst/>
          </a:prstGeom>
          <a:solidFill>
            <a:srgbClr val="00C853">
              <a:alpha val="12000"/>
            </a:srgbClr>
          </a:solidFill>
          <a:ln w="12700">
            <a:solidFill>
              <a:srgbClr val="00C853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69848"/>
            <a:ext cx="4023360" cy="3849624"/>
          </a:xfrm>
          <a:prstGeom prst="rect">
            <a:avLst/>
          </a:prstGeom>
          <a:solidFill>
            <a:srgbClr val="132338"/>
          </a:solidFill>
          <a:ln w="25400">
            <a:solidFill>
              <a:srgbClr val="00C85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69848"/>
            <a:ext cx="4023360" cy="960120"/>
          </a:xfrm>
          <a:prstGeom prst="rect">
            <a:avLst/>
          </a:prstGeom>
          <a:solidFill>
            <a:srgbClr val="003D18"/>
          </a:solidFill>
          <a:ln w="12700">
            <a:solidFill>
              <a:srgbClr val="003D1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2344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1704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75488" y="2103120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reservations, takeaways &amp; catering bookings.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" y="2770632"/>
            <a:ext cx="164592" cy="164592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2697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reservations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" y="3182112"/>
            <a:ext cx="164592" cy="164592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" y="3108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&amp; delivery orders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5488" y="3593592"/>
            <a:ext cx="164592" cy="164592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" y="3520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dining &amp; catering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5488" y="4005072"/>
            <a:ext cx="164592" cy="164592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9808" y="3931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browsing &amp; pre-ordering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5488" y="4416552"/>
            <a:ext cx="164592" cy="164592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" y="4343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occasion packages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64024" y="1033272"/>
            <a:ext cx="4096512" cy="3886200"/>
          </a:xfrm>
          <a:prstGeom prst="rect">
            <a:avLst/>
          </a:prstGeom>
          <a:solidFill>
            <a:srgbClr val="FF6EC7">
              <a:alpha val="12000"/>
            </a:srgbClr>
          </a:solidFill>
          <a:ln w="12700">
            <a:solidFill>
              <a:srgbClr val="FF6EC7">
                <a:alpha val="12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00600" y="1069848"/>
            <a:ext cx="4023360" cy="3849624"/>
          </a:xfrm>
          <a:prstGeom prst="rect">
            <a:avLst/>
          </a:prstGeom>
          <a:solidFill>
            <a:srgbClr val="132338"/>
          </a:solidFill>
          <a:ln w="25400">
            <a:solidFill>
              <a:srgbClr val="FF6EC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00600" y="1069848"/>
            <a:ext cx="4023360" cy="960120"/>
          </a:xfrm>
          <a:prstGeom prst="rect">
            <a:avLst/>
          </a:prstGeom>
          <a:solidFill>
            <a:srgbClr val="4A0035"/>
          </a:solidFill>
          <a:ln w="12700">
            <a:solidFill>
              <a:srgbClr val="4A0035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234440"/>
            <a:ext cx="548640" cy="5486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696712" y="11704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5001768" y="2103120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Hair, beauty, spa &amp; wellness appointment bookings.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001768" y="2770632"/>
            <a:ext cx="164592" cy="164592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276088" y="2697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 styling &amp; colouring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001768" y="3182112"/>
            <a:ext cx="164592" cy="164592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276088" y="3108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Nail care &amp; manicures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5001768" y="3593592"/>
            <a:ext cx="164592" cy="164592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276088" y="3520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&amp; massage bookings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5001768" y="4005072"/>
            <a:ext cx="164592" cy="164592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276088" y="3931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Barber &amp; grooming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5001768" y="4416552"/>
            <a:ext cx="164592" cy="164592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276088" y="4343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treatments &amp; facials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SERVICE PROVIDERS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your client base with MGT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" y="1088136"/>
            <a:ext cx="2779776" cy="1719072"/>
          </a:xfrm>
          <a:prstGeom prst="rect">
            <a:avLst/>
          </a:prstGeom>
          <a:solidFill>
            <a:srgbClr val="FF4081">
              <a:alpha val="12000"/>
            </a:srgbClr>
          </a:solidFill>
          <a:ln w="12700">
            <a:solidFill>
              <a:srgbClr val="FF4081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15568"/>
            <a:ext cx="2724912" cy="1664208"/>
          </a:xfrm>
          <a:prstGeom prst="rect">
            <a:avLst/>
          </a:prstGeom>
          <a:solidFill>
            <a:srgbClr val="132338"/>
          </a:solidFill>
          <a:ln w="15240">
            <a:solidFill>
              <a:srgbClr val="FF40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" y="1298448"/>
            <a:ext cx="475488" cy="475488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325880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3167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Daily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38912" y="1865376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discovered by users actively searching for your service right now.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54680" y="1088136"/>
            <a:ext cx="2779776" cy="1719072"/>
          </a:xfrm>
          <a:prstGeom prst="rect">
            <a:avLst/>
          </a:prstGeom>
          <a:solidFill>
            <a:srgbClr val="FFB300">
              <a:alpha val="12000"/>
            </a:srgbClr>
          </a:solidFill>
          <a:ln w="12700">
            <a:solidFill>
              <a:srgbClr val="FFB300">
                <a:alpha val="12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82112" y="1115568"/>
            <a:ext cx="2724912" cy="1664208"/>
          </a:xfrm>
          <a:prstGeom prst="rect">
            <a:avLst/>
          </a:prstGeom>
          <a:solidFill>
            <a:srgbClr val="132338"/>
          </a:solidFill>
          <a:ln w="1524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46704" y="1298448"/>
            <a:ext cx="475488" cy="47548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36" y="1325880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59352" y="13167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46704" y="1865376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your calendar. Reduce no-shows with instant confirmations.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62472" y="1088136"/>
            <a:ext cx="2779776" cy="1719072"/>
          </a:xfrm>
          <a:prstGeom prst="rect">
            <a:avLst/>
          </a:prstGeom>
          <a:solidFill>
            <a:srgbClr val="9C6FD6">
              <a:alpha val="12000"/>
            </a:srgbClr>
          </a:solidFill>
          <a:ln w="12700">
            <a:solidFill>
              <a:srgbClr val="9C6FD6">
                <a:alpha val="12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089904" y="1115568"/>
            <a:ext cx="2724912" cy="1664208"/>
          </a:xfrm>
          <a:prstGeom prst="rect">
            <a:avLst/>
          </a:prstGeom>
          <a:solidFill>
            <a:srgbClr val="132338"/>
          </a:solidFill>
          <a:ln w="15240">
            <a:solidFill>
              <a:srgbClr val="9C6F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54496" y="1298448"/>
            <a:ext cx="475488" cy="475488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325880"/>
            <a:ext cx="420624" cy="4206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67144" y="13167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Reputation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254496" y="1865376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verified reviews and ratings that build long-term trust.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246888" y="2990088"/>
            <a:ext cx="2779776" cy="1719072"/>
          </a:xfrm>
          <a:prstGeom prst="rect">
            <a:avLst/>
          </a:prstGeom>
          <a:solidFill>
            <a:srgbClr val="00C853">
              <a:alpha val="12000"/>
            </a:srgbClr>
          </a:solidFill>
          <a:ln w="12700">
            <a:solidFill>
              <a:srgbClr val="00C853">
                <a:alpha val="1200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274320" y="3017520"/>
            <a:ext cx="2724912" cy="1664208"/>
          </a:xfrm>
          <a:prstGeom prst="rect">
            <a:avLst/>
          </a:prstGeom>
          <a:solidFill>
            <a:srgbClr val="132338"/>
          </a:solidFill>
          <a:ln w="15240">
            <a:solidFill>
              <a:srgbClr val="00C85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38912" y="3200400"/>
            <a:ext cx="475488" cy="47548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3227832"/>
            <a:ext cx="420624" cy="42062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51560" y="32186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Management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38912" y="376732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bookings, availability, and client messages in one dashboard.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154680" y="2990088"/>
            <a:ext cx="2779776" cy="1719072"/>
          </a:xfrm>
          <a:prstGeom prst="rect">
            <a:avLst/>
          </a:prstGeom>
          <a:solidFill>
            <a:srgbClr val="FF6EC7">
              <a:alpha val="12000"/>
            </a:srgbClr>
          </a:solidFill>
          <a:ln w="12700">
            <a:solidFill>
              <a:srgbClr val="FF6EC7">
                <a:alpha val="12000"/>
              </a:srgbClr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182112" y="3017520"/>
            <a:ext cx="2724912" cy="1664208"/>
          </a:xfrm>
          <a:prstGeom prst="rect">
            <a:avLst/>
          </a:prstGeom>
          <a:solidFill>
            <a:srgbClr val="132338"/>
          </a:solidFill>
          <a:ln w="15240">
            <a:solidFill>
              <a:srgbClr val="FF6E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346704" y="3200400"/>
            <a:ext cx="475488" cy="475488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136" y="3227832"/>
            <a:ext cx="420624" cy="42062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959352" y="32186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Notifications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3346704" y="376732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reminders reduce no-shows and keep your schedule full.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6062472" y="2990088"/>
            <a:ext cx="2779776" cy="1719072"/>
          </a:xfrm>
          <a:prstGeom prst="rect">
            <a:avLst/>
          </a:prstGeom>
          <a:solidFill>
            <a:srgbClr val="29B6F6">
              <a:alpha val="12000"/>
            </a:srgbClr>
          </a:solidFill>
          <a:ln w="12700">
            <a:solidFill>
              <a:srgbClr val="29B6F6">
                <a:alpha val="12000"/>
              </a:srgbClr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089904" y="3017520"/>
            <a:ext cx="2724912" cy="1664208"/>
          </a:xfrm>
          <a:prstGeom prst="rect">
            <a:avLst/>
          </a:prstGeom>
          <a:solidFill>
            <a:srgbClr val="132338"/>
          </a:solidFill>
          <a:ln w="15240">
            <a:solidFill>
              <a:srgbClr val="29B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254496" y="3200400"/>
            <a:ext cx="475488" cy="475488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227832"/>
            <a:ext cx="420624" cy="42062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867144" y="32186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Compliant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254496" y="376732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POPIA-compliant data handling. Secure payments. Full privacy.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thousands choose MGT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38328" y="1078992"/>
            <a:ext cx="1901952" cy="1417320"/>
          </a:xfrm>
          <a:prstGeom prst="rect">
            <a:avLst/>
          </a:prstGeom>
          <a:solidFill>
            <a:srgbClr val="FF4081">
              <a:alpha val="12000"/>
            </a:srgbClr>
          </a:solidFill>
          <a:ln w="12700">
            <a:solidFill>
              <a:srgbClr val="FF4081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06424"/>
            <a:ext cx="1847088" cy="1389888"/>
          </a:xfrm>
          <a:prstGeom prst="rect">
            <a:avLst/>
          </a:prstGeom>
          <a:solidFill>
            <a:srgbClr val="132338"/>
          </a:solidFill>
          <a:ln w="22860">
            <a:solidFill>
              <a:srgbClr val="FF40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70432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883664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41448" y="1078992"/>
            <a:ext cx="1901952" cy="1417320"/>
          </a:xfrm>
          <a:prstGeom prst="rect">
            <a:avLst/>
          </a:prstGeom>
          <a:solidFill>
            <a:srgbClr val="FFB300">
              <a:alpha val="12000"/>
            </a:srgbClr>
          </a:solidFill>
          <a:ln w="12700">
            <a:solidFill>
              <a:srgbClr val="FFB300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106424"/>
            <a:ext cx="1847088" cy="1389888"/>
          </a:xfrm>
          <a:prstGeom prst="rect">
            <a:avLst/>
          </a:prstGeom>
          <a:solidFill>
            <a:srgbClr val="132338"/>
          </a:solidFill>
          <a:ln w="22860">
            <a:solidFill>
              <a:srgbClr val="FFB3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170432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68880" y="1883664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Time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44568" y="1078992"/>
            <a:ext cx="1901952" cy="1417320"/>
          </a:xfrm>
          <a:prstGeom prst="rect">
            <a:avLst/>
          </a:prstGeom>
          <a:solidFill>
            <a:srgbClr val="9C6FD6">
              <a:alpha val="12000"/>
            </a:srgbClr>
          </a:solidFill>
          <a:ln w="12700">
            <a:solidFill>
              <a:srgbClr val="9C6FD6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106424"/>
            <a:ext cx="1847088" cy="1389888"/>
          </a:xfrm>
          <a:prstGeom prst="rect">
            <a:avLst/>
          </a:prstGeom>
          <a:solidFill>
            <a:srgbClr val="132338"/>
          </a:solidFill>
          <a:ln w="22860">
            <a:solidFill>
              <a:srgbClr val="9C6FD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170432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0" y="1883664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47688" y="1078992"/>
            <a:ext cx="1901952" cy="1417320"/>
          </a:xfrm>
          <a:prstGeom prst="rect">
            <a:avLst/>
          </a:prstGeom>
          <a:solidFill>
            <a:srgbClr val="00C853">
              <a:alpha val="12000"/>
            </a:srgbClr>
          </a:solidFill>
          <a:ln w="12700">
            <a:solidFill>
              <a:srgbClr val="00C853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1106424"/>
            <a:ext cx="1847088" cy="1389888"/>
          </a:xfrm>
          <a:prstGeom prst="rect">
            <a:avLst/>
          </a:prstGeom>
          <a:solidFill>
            <a:srgbClr val="132338"/>
          </a:solidFill>
          <a:ln w="22860">
            <a:solidFill>
              <a:srgbClr val="00C85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1170432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4.8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675120" y="1883664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Provider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743200"/>
            <a:ext cx="4069080" cy="987552"/>
          </a:xfrm>
          <a:prstGeom prst="rect">
            <a:avLst/>
          </a:prstGeom>
          <a:solidFill>
            <a:srgbClr val="132338"/>
          </a:solidFill>
          <a:ln w="12700">
            <a:solidFill>
              <a:srgbClr val="FF40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743200"/>
            <a:ext cx="64008" cy="987552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834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Chat-First UX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13639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clunky forms. Our conversational chat flow makes booking feel like texting a friend.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886200"/>
            <a:ext cx="4069080" cy="987552"/>
          </a:xfrm>
          <a:prstGeom prst="rect">
            <a:avLst/>
          </a:prstGeom>
          <a:solidFill>
            <a:srgbClr val="132338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886200"/>
            <a:ext cx="64008" cy="9875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Multi-Service Wallet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427939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 covers all 6 services. No separate apps, no separate logins.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743200"/>
            <a:ext cx="4069080" cy="987552"/>
          </a:xfrm>
          <a:prstGeom prst="rect">
            <a:avLst/>
          </a:prstGeom>
          <a:solidFill>
            <a:srgbClr val="132338"/>
          </a:solidFill>
          <a:ln w="12700">
            <a:solidFill>
              <a:srgbClr val="9C6F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743200"/>
            <a:ext cx="64008" cy="987552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834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Matching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313639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provider matching based on location, availability, and specialisation.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886200"/>
            <a:ext cx="4069080" cy="987552"/>
          </a:xfrm>
          <a:prstGeom prst="rect">
            <a:avLst/>
          </a:prstGeom>
          <a:solidFill>
            <a:srgbClr val="132338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886200"/>
            <a:ext cx="64008" cy="98755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Post-Service Support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37760" y="427939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support, ratings, and follow-up care built into every booking journey.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COMPLIANCE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foundation of policy, trust &amp; law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06040" cy="420624"/>
          </a:xfrm>
          <a:prstGeom prst="rect">
            <a:avLst/>
          </a:prstGeom>
          <a:solidFill>
            <a:srgbClr val="132338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292608" cy="420624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1887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of Conduct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72968" y="1097280"/>
            <a:ext cx="2606040" cy="420624"/>
          </a:xfrm>
          <a:prstGeom prst="rect">
            <a:avLst/>
          </a:prstGeom>
          <a:solidFill>
            <a:srgbClr val="132338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72968" y="1097280"/>
            <a:ext cx="292608" cy="42062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2968" y="1097280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38728" y="11887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EEO Policy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25896" y="1097280"/>
            <a:ext cx="2606040" cy="420624"/>
          </a:xfrm>
          <a:prstGeom prst="rect">
            <a:avLst/>
          </a:prstGeom>
          <a:solidFill>
            <a:srgbClr val="132338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25896" y="1097280"/>
            <a:ext cx="292608" cy="420624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25896" y="1097280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91656" y="11887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Safety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1645920"/>
            <a:ext cx="2606040" cy="420624"/>
          </a:xfrm>
          <a:prstGeom prst="rect">
            <a:avLst/>
          </a:prstGeom>
          <a:solidFill>
            <a:srgbClr val="132338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1645920"/>
            <a:ext cx="292608" cy="42062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645920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17373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&amp; Time Off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72968" y="1645920"/>
            <a:ext cx="2606040" cy="420624"/>
          </a:xfrm>
          <a:prstGeom prst="rect">
            <a:avLst/>
          </a:prstGeom>
          <a:solidFill>
            <a:srgbClr val="132338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72968" y="1645920"/>
            <a:ext cx="292608" cy="420624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72968" y="1645920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38728" y="17373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25896" y="1645920"/>
            <a:ext cx="2606040" cy="420624"/>
          </a:xfrm>
          <a:prstGeom prst="rect">
            <a:avLst/>
          </a:prstGeom>
          <a:solidFill>
            <a:srgbClr val="132338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25896" y="1645920"/>
            <a:ext cx="292608" cy="420624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25896" y="1645920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91656" y="17373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2194560"/>
            <a:ext cx="2606040" cy="420624"/>
          </a:xfrm>
          <a:prstGeom prst="rect">
            <a:avLst/>
          </a:prstGeom>
          <a:solidFill>
            <a:srgbClr val="132338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2194560"/>
            <a:ext cx="292608" cy="420624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194560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" y="22860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172968" y="2194560"/>
            <a:ext cx="2606040" cy="420624"/>
          </a:xfrm>
          <a:prstGeom prst="rect">
            <a:avLst/>
          </a:prstGeom>
          <a:solidFill>
            <a:srgbClr val="132338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72968" y="2194560"/>
            <a:ext cx="292608" cy="42062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72968" y="2194560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38728" y="22860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Policy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025896" y="2194560"/>
            <a:ext cx="2606040" cy="420624"/>
          </a:xfrm>
          <a:prstGeom prst="rect">
            <a:avLst/>
          </a:prstGeom>
          <a:solidFill>
            <a:srgbClr val="132338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25896" y="2194560"/>
            <a:ext cx="292608" cy="420624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25896" y="2194560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91656" y="22860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of Interest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20040" y="2743200"/>
            <a:ext cx="2606040" cy="420624"/>
          </a:xfrm>
          <a:prstGeom prst="rect">
            <a:avLst/>
          </a:prstGeom>
          <a:solidFill>
            <a:srgbClr val="132338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2743200"/>
            <a:ext cx="292608" cy="42062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2743200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5800" y="28346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Whistleblower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172968" y="2743200"/>
            <a:ext cx="2606040" cy="420624"/>
          </a:xfrm>
          <a:prstGeom prst="rect">
            <a:avLst/>
          </a:prstGeom>
          <a:solidFill>
            <a:srgbClr val="132338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172968" y="2743200"/>
            <a:ext cx="292608" cy="420624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72968" y="2743200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538728" y="28346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Mgmt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025896" y="2743200"/>
            <a:ext cx="2606040" cy="420624"/>
          </a:xfrm>
          <a:prstGeom prst="rect">
            <a:avLst/>
          </a:prstGeom>
          <a:solidFill>
            <a:srgbClr val="132338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25896" y="2743200"/>
            <a:ext cx="292608" cy="420624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25896" y="2743200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391656" y="28346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Use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20040" y="3291840"/>
            <a:ext cx="2606040" cy="420624"/>
          </a:xfrm>
          <a:prstGeom prst="rect">
            <a:avLst/>
          </a:prstGeom>
          <a:solidFill>
            <a:srgbClr val="132338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" y="3291840"/>
            <a:ext cx="292608" cy="420624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3291840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85800" y="33832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Harassment Policy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172968" y="3291840"/>
            <a:ext cx="2606040" cy="420624"/>
          </a:xfrm>
          <a:prstGeom prst="rect">
            <a:avLst/>
          </a:prstGeom>
          <a:solidFill>
            <a:srgbClr val="132338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172968" y="3291840"/>
            <a:ext cx="292608" cy="42062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72968" y="3291840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538728" y="33832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025896" y="3291840"/>
            <a:ext cx="2606040" cy="420624"/>
          </a:xfrm>
          <a:prstGeom prst="rect">
            <a:avLst/>
          </a:prstGeom>
          <a:solidFill>
            <a:srgbClr val="132338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025896" y="3291840"/>
            <a:ext cx="292608" cy="420624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025896" y="3291840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391656" y="33832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Policy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320040" y="3840480"/>
            <a:ext cx="2606040" cy="420624"/>
          </a:xfrm>
          <a:prstGeom prst="rect">
            <a:avLst/>
          </a:prstGeom>
          <a:solidFill>
            <a:srgbClr val="132338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0040" y="3840480"/>
            <a:ext cx="292608" cy="42062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" y="3840480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85800" y="39319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&amp; Alcohol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3172968" y="3840480"/>
            <a:ext cx="2606040" cy="420624"/>
          </a:xfrm>
          <a:prstGeom prst="rect">
            <a:avLst/>
          </a:prstGeom>
          <a:solidFill>
            <a:srgbClr val="132338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172968" y="3840480"/>
            <a:ext cx="292608" cy="420624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172968" y="3840480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3538728" y="39319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Policy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025896" y="3840480"/>
            <a:ext cx="2606040" cy="420624"/>
          </a:xfrm>
          <a:prstGeom prst="rect">
            <a:avLst/>
          </a:prstGeom>
          <a:solidFill>
            <a:srgbClr val="132338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25896" y="3840480"/>
            <a:ext cx="292608" cy="420624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025896" y="3840480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6391656" y="39319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Handling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SUITE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agreements. Every client type.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1572768" cy="3794760"/>
          </a:xfrm>
          <a:prstGeom prst="rect">
            <a:avLst/>
          </a:prstGeom>
          <a:solidFill>
            <a:srgbClr val="FF4081">
              <a:alpha val="12000"/>
            </a:srgbClr>
          </a:solidFill>
          <a:ln w="12700">
            <a:solidFill>
              <a:srgbClr val="FF4081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124712"/>
            <a:ext cx="1517904" cy="3767328"/>
          </a:xfrm>
          <a:prstGeom prst="rect">
            <a:avLst/>
          </a:prstGeom>
          <a:solidFill>
            <a:srgbClr val="132338"/>
          </a:solidFill>
          <a:ln w="19050">
            <a:solidFill>
              <a:srgbClr val="FF40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24712"/>
            <a:ext cx="1517904" cy="713232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124712"/>
            <a:ext cx="1517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56032" y="194767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237744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Services Agreement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2944368"/>
            <a:ext cx="1152144" cy="27432"/>
          </a:xfrm>
          <a:prstGeom prst="rect">
            <a:avLst/>
          </a:prstGeom>
          <a:solidFill>
            <a:srgbClr val="FF4081">
              <a:alpha val="50000"/>
            </a:srgbClr>
          </a:solidFill>
          <a:ln w="12700">
            <a:solidFill>
              <a:srgbClr val="FF4081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3035808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" y="3255264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months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354787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" y="3767328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card / Fixed SOW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65960" y="1097280"/>
            <a:ext cx="1572768" cy="3794760"/>
          </a:xfrm>
          <a:prstGeom prst="rect">
            <a:avLst/>
          </a:prstGeom>
          <a:solidFill>
            <a:srgbClr val="FFB300">
              <a:alpha val="12000"/>
            </a:srgbClr>
          </a:solidFill>
          <a:ln w="12700">
            <a:solidFill>
              <a:srgbClr val="FFB300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93392" y="1124712"/>
            <a:ext cx="1517904" cy="3767328"/>
          </a:xfrm>
          <a:prstGeom prst="rect">
            <a:avLst/>
          </a:prstGeom>
          <a:solidFill>
            <a:srgbClr val="132338"/>
          </a:solidFill>
          <a:ln w="19050">
            <a:solidFill>
              <a:srgbClr val="FFB3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993392" y="1124712"/>
            <a:ext cx="1517904" cy="7132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93392" y="1124712"/>
            <a:ext cx="1517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BSA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993392" y="194767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84832" y="237744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Services Agreement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76272" y="2944368"/>
            <a:ext cx="1152144" cy="27432"/>
          </a:xfrm>
          <a:prstGeom prst="rect">
            <a:avLst/>
          </a:prstGeom>
          <a:solidFill>
            <a:srgbClr val="FFB300">
              <a:alpha val="50000"/>
            </a:srgbClr>
          </a:solidFill>
          <a:ln w="12700">
            <a:solidFill>
              <a:srgbClr val="FFB300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84832" y="3035808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84832" y="3255264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84832" y="354787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84832" y="3767328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R3,500–R28,000/month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03320" y="1097280"/>
            <a:ext cx="1572768" cy="3794760"/>
          </a:xfrm>
          <a:prstGeom prst="rect">
            <a:avLst/>
          </a:prstGeom>
          <a:solidFill>
            <a:srgbClr val="9C6FD6">
              <a:alpha val="12000"/>
            </a:srgbClr>
          </a:solidFill>
          <a:ln w="12700">
            <a:solidFill>
              <a:srgbClr val="9C6FD6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30752" y="1124712"/>
            <a:ext cx="1517904" cy="3767328"/>
          </a:xfrm>
          <a:prstGeom prst="rect">
            <a:avLst/>
          </a:prstGeom>
          <a:solidFill>
            <a:srgbClr val="132338"/>
          </a:solidFill>
          <a:ln w="19050">
            <a:solidFill>
              <a:srgbClr val="9C6FD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30752" y="1124712"/>
            <a:ext cx="1517904" cy="713232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30752" y="1124712"/>
            <a:ext cx="1517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PPSA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730752" y="194767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Practice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822192" y="237744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Services Agreement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913632" y="2944368"/>
            <a:ext cx="1152144" cy="27432"/>
          </a:xfrm>
          <a:prstGeom prst="rect">
            <a:avLst/>
          </a:prstGeom>
          <a:solidFill>
            <a:srgbClr val="9C6FD6">
              <a:alpha val="50000"/>
            </a:srgbClr>
          </a:solidFill>
          <a:ln w="12700">
            <a:solidFill>
              <a:srgbClr val="9C6FD6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22192" y="3035808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22192" y="3255264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22192" y="354787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822192" y="3767328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R4,500–R38,000/month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40680" y="1097280"/>
            <a:ext cx="1572768" cy="3794760"/>
          </a:xfrm>
          <a:prstGeom prst="rect">
            <a:avLst/>
          </a:prstGeom>
          <a:solidFill>
            <a:srgbClr val="00C853">
              <a:alpha val="12000"/>
            </a:srgbClr>
          </a:solidFill>
          <a:ln w="12700">
            <a:solidFill>
              <a:srgbClr val="00C853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68112" y="1124712"/>
            <a:ext cx="1517904" cy="3767328"/>
          </a:xfrm>
          <a:prstGeom prst="rect">
            <a:avLst/>
          </a:prstGeom>
          <a:solidFill>
            <a:srgbClr val="132338"/>
          </a:solidFill>
          <a:ln w="19050">
            <a:solidFill>
              <a:srgbClr val="00C85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68112" y="1124712"/>
            <a:ext cx="1517904" cy="71323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68112" y="1124712"/>
            <a:ext cx="1517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PFAA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468112" y="194767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Firm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559552" y="237744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Advisory Agreement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50992" y="2944368"/>
            <a:ext cx="1152144" cy="27432"/>
          </a:xfrm>
          <a:prstGeom prst="rect">
            <a:avLst/>
          </a:prstGeom>
          <a:solidFill>
            <a:srgbClr val="00C853">
              <a:alpha val="50000"/>
            </a:srgbClr>
          </a:solidFill>
          <a:ln w="12700">
            <a:solidFill>
              <a:srgbClr val="00C853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59552" y="3035808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59552" y="3255264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559552" y="354787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59552" y="3767328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R15,000–R45,000/month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178040" y="1097280"/>
            <a:ext cx="1572768" cy="3794760"/>
          </a:xfrm>
          <a:prstGeom prst="rect">
            <a:avLst/>
          </a:prstGeom>
          <a:solidFill>
            <a:srgbClr val="FF6EC7">
              <a:alpha val="12000"/>
            </a:srgbClr>
          </a:solidFill>
          <a:ln w="12700">
            <a:solidFill>
              <a:srgbClr val="FF6EC7">
                <a:alpha val="1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05472" y="1124712"/>
            <a:ext cx="1517904" cy="3767328"/>
          </a:xfrm>
          <a:prstGeom prst="rect">
            <a:avLst/>
          </a:prstGeom>
          <a:solidFill>
            <a:srgbClr val="132338"/>
          </a:solidFill>
          <a:ln w="19050">
            <a:solidFill>
              <a:srgbClr val="FF6EC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205472" y="1124712"/>
            <a:ext cx="1517904" cy="713232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05472" y="1124712"/>
            <a:ext cx="1517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IPSA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7205472" y="194767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Professional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296912" y="237744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Prof. Agreement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388352" y="2944368"/>
            <a:ext cx="1152144" cy="27432"/>
          </a:xfrm>
          <a:prstGeom prst="rect">
            <a:avLst/>
          </a:prstGeom>
          <a:solidFill>
            <a:srgbClr val="FF6EC7">
              <a:alpha val="50000"/>
            </a:srgbClr>
          </a:solidFill>
          <a:ln w="12700">
            <a:solidFill>
              <a:srgbClr val="FF6EC7">
                <a:alpha val="5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96912" y="3035808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Term: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296912" y="3255264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project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296912" y="354787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Fee: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96912" y="3767328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R1,200–R40,000/day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46888" y="1097280"/>
            <a:ext cx="2724912" cy="3840480"/>
          </a:xfrm>
          <a:prstGeom prst="rect">
            <a:avLst/>
          </a:prstGeom>
          <a:solidFill>
            <a:srgbClr val="FF4081">
              <a:alpha val="12000"/>
            </a:srgbClr>
          </a:solidFill>
          <a:ln w="12700">
            <a:solidFill>
              <a:srgbClr val="FF4081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24712"/>
            <a:ext cx="2670048" cy="3813048"/>
          </a:xfrm>
          <a:prstGeom prst="rect">
            <a:avLst/>
          </a:prstGeom>
          <a:solidFill>
            <a:srgbClr val="132338"/>
          </a:solidFill>
          <a:ln w="19050">
            <a:solidFill>
              <a:srgbClr val="FF40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24712"/>
            <a:ext cx="2670048" cy="566928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24712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LAYER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304288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FF40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(iOS &amp; Android)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24328"/>
            <a:ext cx="2304288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FF40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6148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74136"/>
            <a:ext cx="2304288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FF40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11296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Chat Flow Engine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123944"/>
            <a:ext cx="2304288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FF40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261104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 &amp; Search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71800" y="2633472"/>
            <a:ext cx="246888" cy="73152"/>
          </a:xfrm>
          <a:prstGeom prst="rect">
            <a:avLst/>
          </a:prstGeom>
          <a:solidFill>
            <a:srgbClr val="FF4081">
              <a:alpha val="60000"/>
            </a:srgbClr>
          </a:solidFill>
          <a:ln w="12700">
            <a:solidFill>
              <a:srgbClr val="FF4081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91256" y="1097280"/>
            <a:ext cx="2724912" cy="3840480"/>
          </a:xfrm>
          <a:prstGeom prst="rect">
            <a:avLst/>
          </a:prstGeom>
          <a:solidFill>
            <a:srgbClr val="9C6FD6">
              <a:alpha val="12000"/>
            </a:srgbClr>
          </a:solidFill>
          <a:ln w="12700">
            <a:solidFill>
              <a:srgbClr val="9C6FD6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18688" y="1124712"/>
            <a:ext cx="2670048" cy="3813048"/>
          </a:xfrm>
          <a:prstGeom prst="rect">
            <a:avLst/>
          </a:prstGeom>
          <a:solidFill>
            <a:srgbClr val="132338"/>
          </a:solidFill>
          <a:ln w="19050">
            <a:solidFill>
              <a:srgbClr val="9C6FD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18688" y="1124712"/>
            <a:ext cx="2670048" cy="566928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18688" y="1124712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01568" y="1874520"/>
            <a:ext cx="2304288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9C6F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3008" y="201168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&amp; Scheduling Engine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01568" y="2624328"/>
            <a:ext cx="2304288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9C6F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276148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Matching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01568" y="3374136"/>
            <a:ext cx="2304288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9C6F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3511296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Management Portal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01568" y="4123944"/>
            <a:ext cx="2304288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9C6F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4261104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&amp; Reminder System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16168" y="2633472"/>
            <a:ext cx="246888" cy="73152"/>
          </a:xfrm>
          <a:prstGeom prst="rect">
            <a:avLst/>
          </a:prstGeom>
          <a:solidFill>
            <a:srgbClr val="9C6FD6">
              <a:alpha val="60000"/>
            </a:srgbClr>
          </a:solidFill>
          <a:ln w="12700">
            <a:solidFill>
              <a:srgbClr val="9C6FD6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35624" y="1097280"/>
            <a:ext cx="2724912" cy="3840480"/>
          </a:xfrm>
          <a:prstGeom prst="rect">
            <a:avLst/>
          </a:prstGeom>
          <a:solidFill>
            <a:srgbClr val="29B6F6">
              <a:alpha val="12000"/>
            </a:srgbClr>
          </a:solidFill>
          <a:ln w="12700">
            <a:solidFill>
              <a:srgbClr val="29B6F6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63056" y="1124712"/>
            <a:ext cx="2670048" cy="3813048"/>
          </a:xfrm>
          <a:prstGeom prst="rect">
            <a:avLst/>
          </a:prstGeom>
          <a:solidFill>
            <a:srgbClr val="132338"/>
          </a:solidFill>
          <a:ln w="19050">
            <a:solidFill>
              <a:srgbClr val="29B6F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63056" y="1124712"/>
            <a:ext cx="2670048" cy="566928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63056" y="1124712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SECURITY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45936" y="1874520"/>
            <a:ext cx="2304288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29B6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37376" y="201168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POPIA-Compliant Storage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45936" y="2624328"/>
            <a:ext cx="2304288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29B6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37376" y="276148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Communications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45936" y="3374136"/>
            <a:ext cx="2304288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29B6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37376" y="3511296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Integration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45936" y="4123944"/>
            <a:ext cx="2304288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29B6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37376" y="4261104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Reporting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73168"/>
            <a:ext cx="1524000" cy="370332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4000" y="4773168"/>
            <a:ext cx="1524000" cy="3703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48000" y="4773168"/>
            <a:ext cx="1524000" cy="370332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4773168"/>
            <a:ext cx="1524000" cy="37033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0" y="4773168"/>
            <a:ext cx="1524000" cy="370332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0" y="4773168"/>
            <a:ext cx="1524000" cy="370332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B3A6B">
              <a:alpha val="25000"/>
            </a:srgbClr>
          </a:solidFill>
          <a:ln w="12700">
            <a:solidFill>
              <a:srgbClr val="1B3A6B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FF4081">
              <a:alpha val="10000"/>
            </a:srgbClr>
          </a:solidFill>
          <a:ln w="12700">
            <a:solidFill>
              <a:srgbClr val="FF4081">
                <a:alpha val="1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BOOK?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MGT today.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city's services, one tap away.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69848" y="2496312"/>
            <a:ext cx="2267712" cy="566928"/>
          </a:xfrm>
          <a:prstGeom prst="rect">
            <a:avLst/>
          </a:prstGeom>
          <a:solidFill>
            <a:srgbClr val="FF4081">
              <a:alpha val="12000"/>
            </a:srgbClr>
          </a:solidFill>
          <a:ln w="12700">
            <a:solidFill>
              <a:srgbClr val="FF4081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2523744"/>
            <a:ext cx="2212848" cy="539496"/>
          </a:xfrm>
          <a:prstGeom prst="rect">
            <a:avLst/>
          </a:prstGeom>
          <a:solidFill>
            <a:srgbClr val="132338"/>
          </a:solidFill>
          <a:ln w="15240">
            <a:solidFill>
              <a:srgbClr val="FF4081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651760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09344" y="261518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admin@mgucatech.com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557016" y="2496312"/>
            <a:ext cx="2267712" cy="566928"/>
          </a:xfrm>
          <a:prstGeom prst="rect">
            <a:avLst/>
          </a:prstGeom>
          <a:solidFill>
            <a:srgbClr val="FFB300">
              <a:alpha val="12000"/>
            </a:srgbClr>
          </a:solidFill>
          <a:ln w="12700">
            <a:solidFill>
              <a:srgbClr val="FFB300">
                <a:alpha val="12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584448" y="2523744"/>
            <a:ext cx="2212848" cy="539496"/>
          </a:xfrm>
          <a:prstGeom prst="rect">
            <a:avLst/>
          </a:prstGeom>
          <a:solidFill>
            <a:srgbClr val="132338"/>
          </a:solidFill>
          <a:ln w="15240">
            <a:solidFill>
              <a:srgbClr val="FFB300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65176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096512" y="261518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076 047 0141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044184" y="2496312"/>
            <a:ext cx="2267712" cy="566928"/>
          </a:xfrm>
          <a:prstGeom prst="rect">
            <a:avLst/>
          </a:prstGeom>
          <a:solidFill>
            <a:srgbClr val="00C853">
              <a:alpha val="12000"/>
            </a:srgbClr>
          </a:solidFill>
          <a:ln w="12700">
            <a:solidFill>
              <a:srgbClr val="00C853">
                <a:alpha val="12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071616" y="2523744"/>
            <a:ext cx="2212848" cy="539496"/>
          </a:xfrm>
          <a:prstGeom prst="rect">
            <a:avLst/>
          </a:prstGeom>
          <a:solidFill>
            <a:srgbClr val="132338"/>
          </a:solidFill>
          <a:ln w="15240">
            <a:solidFill>
              <a:srgbClr val="00C853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65176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583680" y="261518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www.mgucatech.com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1508760" y="3337560"/>
            <a:ext cx="566928" cy="566928"/>
          </a:xfrm>
          <a:prstGeom prst="ellipse">
            <a:avLst/>
          </a:prstGeom>
          <a:solidFill>
            <a:srgbClr val="4A0020"/>
          </a:solidFill>
          <a:ln w="19050">
            <a:solidFill>
              <a:srgbClr val="FF4081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5336" y="3374136"/>
            <a:ext cx="493776" cy="493776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2560320" y="3337560"/>
            <a:ext cx="566928" cy="566928"/>
          </a:xfrm>
          <a:prstGeom prst="ellipse">
            <a:avLst/>
          </a:prstGeom>
          <a:solidFill>
            <a:srgbClr val="4A2E00"/>
          </a:solidFill>
          <a:ln w="19050">
            <a:solidFill>
              <a:srgbClr val="FFB300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6896" y="3374136"/>
            <a:ext cx="493776" cy="493776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3611880" y="3337560"/>
            <a:ext cx="566928" cy="566928"/>
          </a:xfrm>
          <a:prstGeom prst="ellipse">
            <a:avLst/>
          </a:prstGeom>
          <a:solidFill>
            <a:srgbClr val="2D1A4A"/>
          </a:solidFill>
          <a:ln w="19050">
            <a:solidFill>
              <a:srgbClr val="9C6FD6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8456" y="3374136"/>
            <a:ext cx="493776" cy="493776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4663440" y="3337560"/>
            <a:ext cx="566928" cy="566928"/>
          </a:xfrm>
          <a:prstGeom prst="ellipse">
            <a:avLst/>
          </a:prstGeom>
          <a:solidFill>
            <a:srgbClr val="003D18"/>
          </a:solidFill>
          <a:ln w="19050">
            <a:solidFill>
              <a:srgbClr val="00C853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016" y="3374136"/>
            <a:ext cx="493776" cy="493776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5715000" y="3337560"/>
            <a:ext cx="566928" cy="566928"/>
          </a:xfrm>
          <a:prstGeom prst="ellipse">
            <a:avLst/>
          </a:prstGeom>
          <a:solidFill>
            <a:srgbClr val="4A0035"/>
          </a:solidFill>
          <a:ln w="19050">
            <a:solidFill>
              <a:srgbClr val="FF6EC7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1576" y="3374136"/>
            <a:ext cx="493776" cy="493776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6766560" y="3337560"/>
            <a:ext cx="566928" cy="566928"/>
          </a:xfrm>
          <a:prstGeom prst="ellipse">
            <a:avLst/>
          </a:prstGeom>
          <a:solidFill>
            <a:srgbClr val="003A52"/>
          </a:solidFill>
          <a:ln w="19050">
            <a:solidFill>
              <a:srgbClr val="29B6F6"/>
            </a:solidFill>
            <a:prstDash val="solid"/>
          </a:ln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03136" y="3374136"/>
            <a:ext cx="493776" cy="493776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457200" y="4023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 ·  Mechanic  ·  Lawyer  ·  Restaurant  ·  Salon  ·  Pharmacy</a:t>
            </a:r>
            <a:endParaRPr lang="en-US" sz="1300" dirty="0"/>
          </a:p>
        </p:txBody>
      </p:sp>
      <p:sp>
        <p:nvSpPr>
          <p:cNvPr id="38" name="Text 27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 – MgucaTECH  ·  Version 1.0  ·  2025  ·  All rights reserved.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MGT MgucaTECH – Service Booking Platform</dc:title>
  <dc:subject>PptxGenJS Presentation</dc:subject>
  <dc:creator>PptxGenJS</dc:creator>
  <cp:lastModifiedBy>PptxGenJS</cp:lastModifiedBy>
  <cp:revision>1</cp:revision>
  <dcterms:created xsi:type="dcterms:W3CDTF">2026-05-16T12:06:10Z</dcterms:created>
  <dcterms:modified xsi:type="dcterms:W3CDTF">2026-05-16T12:06:10Z</dcterms:modified>
</cp:coreProperties>
</file>