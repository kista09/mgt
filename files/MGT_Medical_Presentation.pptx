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FF4081">
              <a:alpha val="12000"/>
            </a:srgbClr>
          </a:solidFill>
          <a:ln w="12700">
            <a:solidFill>
              <a:srgbClr val="FF408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F4081">
              <a:alpha val="8000"/>
            </a:srgbClr>
          </a:solidFill>
          <a:ln w="12700">
            <a:solidFill>
              <a:srgbClr val="FF4081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0"/>
            <a:ext cx="2743200" cy="2743200"/>
          </a:xfrm>
          <a:prstGeom prst="ellipse">
            <a:avLst/>
          </a:prstGeom>
          <a:solidFill>
            <a:srgbClr val="3D0018"/>
          </a:solidFill>
          <a:ln w="3810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43000"/>
            <a:ext cx="1920240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486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</a:t>
            </a:r>
            <a:endParaRPr lang="en-US" sz="7600" dirty="0"/>
          </a:p>
        </p:txBody>
      </p:sp>
      <p:sp>
        <p:nvSpPr>
          <p:cNvPr id="7" name="Shape 4"/>
          <p:cNvSpPr/>
          <p:nvPr/>
        </p:nvSpPr>
        <p:spPr>
          <a:xfrm>
            <a:off x="502920" y="1572768"/>
            <a:ext cx="1737360" cy="420624"/>
          </a:xfrm>
          <a:prstGeom prst="roundRect">
            <a:avLst>
              <a:gd name="adj" fmla="val 21739"/>
            </a:avLst>
          </a:prstGeom>
          <a:solidFill>
            <a:srgbClr val="3D0018"/>
          </a:solidFill>
          <a:ln w="22860">
            <a:solidFill>
              <a:srgbClr val="FF40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727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12140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Doctor, Anywhere.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02920" y="2788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visits, specialists, telehealth and clinic appointments — all through MGT.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4773168"/>
            <a:ext cx="1324574" cy="36576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06286" y="4773168"/>
            <a:ext cx="1324574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12571" y="4773168"/>
            <a:ext cx="1324574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18857" y="4773168"/>
            <a:ext cx="1324574" cy="365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25143" y="4773168"/>
            <a:ext cx="1324574" cy="365760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31429" y="4773168"/>
            <a:ext cx="1324574" cy="3657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37714" y="4773168"/>
            <a:ext cx="1324574" cy="36576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4622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MgucaTECH  ·  mgucatech.com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MGT?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03520" cy="1371600"/>
          </a:xfrm>
          <a:prstGeom prst="rect">
            <a:avLst/>
          </a:prstGeom>
          <a:solidFill>
            <a:srgbClr val="0F2035"/>
          </a:solidFill>
          <a:ln w="1270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984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Medical connects patients with verified doctors, specialists, and clinics via a fast, chat-first booking experience. No waiting rooms. No phone queues.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880360"/>
            <a:ext cx="475488" cy="475488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907792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Chat-First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31363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forms. A natural conversation guides every booking.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538728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3630168"/>
            <a:ext cx="475488" cy="47548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657600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88720" y="38862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providers are credentialled, rated, and reviewed.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4288536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4360" y="4379976"/>
            <a:ext cx="475488" cy="47548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0740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4361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Mobile-Ready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88720" y="46360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Android, and web — book from any device, anytime.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17920" y="1188720"/>
            <a:ext cx="2606040" cy="3749040"/>
          </a:xfrm>
          <a:prstGeom prst="rect">
            <a:avLst/>
          </a:prstGeom>
          <a:solidFill>
            <a:srgbClr val="0F2035"/>
          </a:solidFill>
          <a:ln w="1905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17920" y="1188720"/>
            <a:ext cx="2606040" cy="502920"/>
          </a:xfrm>
          <a:prstGeom prst="rect">
            <a:avLst/>
          </a:prstGeom>
          <a:solidFill>
            <a:srgbClr val="3D0018"/>
          </a:solidFill>
          <a:ln w="12700">
            <a:solidFill>
              <a:srgbClr val="3D001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17920" y="1188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MEDICAL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920240"/>
            <a:ext cx="1417320" cy="1417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09360" y="35204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Tap. Chat.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Booked.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6309360" y="4434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www.mgucatech.com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2880" y="3429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Available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" y="3886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any of the following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MGT chat flow.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47288" y="201168"/>
            <a:ext cx="2615184" cy="1463040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0" y="2286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0" y="228600"/>
            <a:ext cx="2560320" cy="54864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02736" y="356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&amp; General Practice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02736" y="685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same-day appointments with local GPs.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45352" y="201168"/>
            <a:ext cx="2615184" cy="1463040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72784" y="2286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72784" y="228600"/>
            <a:ext cx="2560320" cy="54864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356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Referrals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685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cardiologists, dermatologists, and more.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47288" y="1801368"/>
            <a:ext cx="2615184" cy="1463040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74720" y="18288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0" y="1828800"/>
            <a:ext cx="2560320" cy="54864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02736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Consultations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02736" y="22860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or chat consultations from anywhere.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45352" y="1801368"/>
            <a:ext cx="2615184" cy="1463040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72784" y="18288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72784" y="1828800"/>
            <a:ext cx="2560320" cy="54864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Triage Guidance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0" y="22860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Chat-based first-response guidance 24/7.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447288" y="3401568"/>
            <a:ext cx="2615184" cy="1463040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74720" y="34290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474720" y="3429000"/>
            <a:ext cx="2560320" cy="54864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02736" y="3557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&amp; Hospital Bookings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602736" y="38862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slots at public and private facilities.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45352" y="3401568"/>
            <a:ext cx="2615184" cy="1463040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72784" y="34290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272784" y="3429000"/>
            <a:ext cx="2560320" cy="54864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0" y="3557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Requests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0" y="38862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repeat prescriptions through the app.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Medical on MGT — 5 Simple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92224" y="2057400"/>
            <a:ext cx="201168" cy="73152"/>
          </a:xfrm>
          <a:prstGeom prst="rect">
            <a:avLst/>
          </a:prstGeom>
          <a:solidFill>
            <a:srgbClr val="FF4081">
              <a:alpha val="50000"/>
            </a:srgbClr>
          </a:solidFill>
          <a:ln w="12700">
            <a:solidFill>
              <a:srgbClr val="FF4081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08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1060704"/>
            <a:ext cx="347472" cy="347472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8016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6459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MGT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459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Medical from the home screen.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529584" y="2057400"/>
            <a:ext cx="201168" cy="73152"/>
          </a:xfrm>
          <a:prstGeom prst="rect">
            <a:avLst/>
          </a:prstGeom>
          <a:solidFill>
            <a:srgbClr val="FF4081">
              <a:alpha val="50000"/>
            </a:srgbClr>
          </a:solidFill>
          <a:ln w="12700">
            <a:solidFill>
              <a:srgbClr val="FF4081">
                <a:alpha val="5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9339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72" y="1508760"/>
            <a:ext cx="685800" cy="685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017520" y="1060704"/>
            <a:ext cx="347472" cy="347472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1752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90195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Need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90195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flow captures symptoms, preference, and urgency.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266944" y="2057400"/>
            <a:ext cx="201168" cy="73152"/>
          </a:xfrm>
          <a:prstGeom prst="rect">
            <a:avLst/>
          </a:prstGeom>
          <a:solidFill>
            <a:srgbClr val="FF4081">
              <a:alpha val="50000"/>
            </a:srgbClr>
          </a:solidFill>
          <a:ln w="12700">
            <a:solidFill>
              <a:srgbClr val="FF4081">
                <a:alpha val="5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73075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1508760"/>
            <a:ext cx="685800" cy="6858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754880" y="1060704"/>
            <a:ext cx="347472" cy="347472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5488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63931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63931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shows available, nearby providers in real time.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004304" y="2057400"/>
            <a:ext cx="201168" cy="73152"/>
          </a:xfrm>
          <a:prstGeom prst="rect">
            <a:avLst/>
          </a:prstGeom>
          <a:solidFill>
            <a:srgbClr val="FF4081">
              <a:alpha val="50000"/>
            </a:srgbClr>
          </a:solidFill>
          <a:ln w="12700">
            <a:solidFill>
              <a:srgbClr val="FF4081">
                <a:alpha val="5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6811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508760"/>
            <a:ext cx="685800" cy="6858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492240" y="1060704"/>
            <a:ext cx="347472" cy="347472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49224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37667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37667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provider and confirms appointment instantly.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720547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1508760"/>
            <a:ext cx="685800" cy="68580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8229600" y="1060704"/>
            <a:ext cx="347472" cy="347472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22960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711403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11403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or join telehealth call — all details sent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D0018"/>
          </a:solidFill>
          <a:ln w="12700">
            <a:solidFill>
              <a:srgbClr val="3D00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MEDICAL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list on MGT Medical?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1088136"/>
            <a:ext cx="4169664" cy="1152144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35608"/>
            <a:ext cx="475488" cy="475488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63040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4356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appointment slots that would otherwise go empty.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27448" y="1088136"/>
            <a:ext cx="4169664" cy="1152144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115568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435608"/>
            <a:ext cx="475488" cy="475488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63040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04688" y="14356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patients actively searching for your speciality.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46888" y="2386584"/>
            <a:ext cx="4169664" cy="1152144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2414016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2734056"/>
            <a:ext cx="475488" cy="475488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76148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27340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admin with automated bookings and reminders.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727448" y="2386584"/>
            <a:ext cx="4169664" cy="1152144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2414016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2734056"/>
            <a:ext cx="475488" cy="475488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761488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04688" y="27340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verified patient reviews to build your reputation.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246888" y="3685032"/>
            <a:ext cx="4169664" cy="1152144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74320" y="3712464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11480" y="4032504"/>
            <a:ext cx="475488" cy="475488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059936"/>
            <a:ext cx="420624" cy="4206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4128" y="40325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HPCSA-compliant platform — your professional standing is protected.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727448" y="3685032"/>
            <a:ext cx="4169664" cy="1152144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754880" y="3712464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92040" y="4032504"/>
            <a:ext cx="475488" cy="475488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4059936"/>
            <a:ext cx="420624" cy="42062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04688" y="40325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tools built in — no third-party software needed.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run your bookings.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011680" cy="1783080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16152"/>
            <a:ext cx="457200" cy="457200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24358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App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bookings, availability, and client messages from your phone.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04872" y="1051560"/>
            <a:ext cx="2011680" cy="1783080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32304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42032" y="1216152"/>
            <a:ext cx="457200" cy="457200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24358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23744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23744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Auto-blocks unavailable slots. No double-bookings. Ever.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81144" y="1051560"/>
            <a:ext cx="2011680" cy="1783080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08576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18304" y="1216152"/>
            <a:ext cx="457200" cy="457200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1243584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0016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00016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and in-app reminders sent to clients before every appointment.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757416" y="1051560"/>
            <a:ext cx="2011680" cy="1783080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84848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94576" y="1216152"/>
            <a:ext cx="457200" cy="457200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243584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76288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Payments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76288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deposits or full payments securely — direct to your account.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228600" y="2990088"/>
            <a:ext cx="2011680" cy="1783080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256032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65760" y="3154680"/>
            <a:ext cx="457200" cy="457200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182112"/>
            <a:ext cx="402336" cy="40233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47472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47472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bookings, revenue, ratings, and client retention over time.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2404872" y="2990088"/>
            <a:ext cx="2011680" cy="1783080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2432304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542032" y="3154680"/>
            <a:ext cx="457200" cy="457200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3182112"/>
            <a:ext cx="402336" cy="40233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523744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Client Chat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2523744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with clients before and after bookings in the app.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4581144" y="2990088"/>
            <a:ext cx="2011680" cy="1783080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4608576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718304" y="3154680"/>
            <a:ext cx="457200" cy="457200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3182112"/>
            <a:ext cx="402336" cy="40233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4700016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Reviews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4700016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reviews build your credibility and attract more clients.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6757416" y="2990088"/>
            <a:ext cx="2011680" cy="1783080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6784848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6894576" y="3154680"/>
            <a:ext cx="457200" cy="457200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3182112"/>
            <a:ext cx="402336" cy="402336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6876288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6876288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handled in accordance with South African privacy law.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PACKAGES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7744" y="1152144"/>
            <a:ext cx="2633472" cy="3730752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560320" cy="3657600"/>
          </a:xfrm>
          <a:prstGeom prst="rect">
            <a:avLst/>
          </a:prstGeom>
          <a:solidFill>
            <a:srgbClr val="0F2035"/>
          </a:solidFill>
          <a:ln w="1270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Practitioner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8470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provider profile, 50 bookings/month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33472"/>
            <a:ext cx="2194560" cy="822960"/>
          </a:xfrm>
          <a:prstGeom prst="rect">
            <a:avLst/>
          </a:prstGeom>
          <a:solidFill>
            <a:srgbClr val="3D0018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697480"/>
            <a:ext cx="2157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list + 8% per booking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risk to start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26664" y="950976"/>
            <a:ext cx="3182112" cy="4142232"/>
          </a:xfrm>
          <a:prstGeom prst="rect">
            <a:avLst/>
          </a:prstGeom>
          <a:solidFill>
            <a:srgbClr val="FF4081">
              <a:alpha val="25000"/>
            </a:srgbClr>
          </a:solidFill>
          <a:ln w="12700">
            <a:solidFill>
              <a:srgbClr val="FF4081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987552"/>
            <a:ext cx="3108960" cy="4069080"/>
          </a:xfrm>
          <a:prstGeom prst="rect">
            <a:avLst/>
          </a:prstGeom>
          <a:solidFill>
            <a:srgbClr val="0D1B2E"/>
          </a:solidFill>
          <a:ln w="2540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987552"/>
            <a:ext cx="3108960" cy="384048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9875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(2–5 Providers)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0" y="19385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dashboard, analytics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2724912"/>
            <a:ext cx="2743200" cy="822960"/>
          </a:xfrm>
          <a:prstGeom prst="rect">
            <a:avLst/>
          </a:prstGeom>
          <a:solidFill>
            <a:srgbClr val="3D0018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2788920"/>
            <a:ext cx="2706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R850/month + 6% per booking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94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value for growing providers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18504" y="1152144"/>
            <a:ext cx="2633472" cy="3730752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188720"/>
            <a:ext cx="2560320" cy="3657600"/>
          </a:xfrm>
          <a:prstGeom prst="rect">
            <a:avLst/>
          </a:prstGeom>
          <a:solidFill>
            <a:srgbClr val="0F2035"/>
          </a:solidFill>
          <a:ln w="1270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/ Hospital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18470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providers, priority listing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2633472"/>
            <a:ext cx="2194560" cy="822960"/>
          </a:xfrm>
          <a:prstGeom prst="rect">
            <a:avLst/>
          </a:prstGeom>
          <a:solidFill>
            <a:srgbClr val="3D0018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2697480"/>
            <a:ext cx="2157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pricing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 high-volume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MGT Medical Works.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1097280"/>
            <a:ext cx="1938528" cy="1417320"/>
          </a:xfrm>
          <a:prstGeom prst="rect">
            <a:avLst/>
          </a:prstGeom>
          <a:solidFill>
            <a:srgbClr val="FF4081">
              <a:alpha val="14000"/>
            </a:srgbClr>
          </a:solidFill>
          <a:ln w="12700">
            <a:solidFill>
              <a:srgbClr val="FF4081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&amp; Specialists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&amp; Verified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1097280"/>
            <a:ext cx="1938528" cy="1417320"/>
          </a:xfrm>
          <a:prstGeom prst="rect">
            <a:avLst/>
          </a:prstGeom>
          <a:solidFill>
            <a:srgbClr val="FF4081">
              <a:alpha val="14000"/>
            </a:srgbClr>
          </a:solidFill>
          <a:ln w="12700">
            <a:solidFill>
              <a:srgbClr val="FF408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Booking Time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90 Seconds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90288" y="1097280"/>
            <a:ext cx="1938528" cy="1417320"/>
          </a:xfrm>
          <a:prstGeom prst="rect">
            <a:avLst/>
          </a:prstGeom>
          <a:solidFill>
            <a:srgbClr val="FF4081">
              <a:alpha val="14000"/>
            </a:srgbClr>
          </a:solidFill>
          <a:ln w="12700">
            <a:solidFill>
              <a:srgbClr val="FF408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Rating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1772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4.9 / 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39128" y="1097280"/>
            <a:ext cx="1938528" cy="1417320"/>
          </a:xfrm>
          <a:prstGeom prst="rect">
            <a:avLst/>
          </a:prstGeom>
          <a:solidFill>
            <a:srgbClr val="FF4081">
              <a:alpha val="14000"/>
            </a:srgbClr>
          </a:solidFill>
          <a:ln w="12700">
            <a:solidFill>
              <a:srgbClr val="FF408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6656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" y="2944368"/>
            <a:ext cx="548640" cy="548640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971800"/>
            <a:ext cx="493776" cy="49377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43000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Verified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Medical provider on MGT is credential-checked before going live on the platform.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27832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392424" y="2944368"/>
            <a:ext cx="548640" cy="548640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2971800"/>
            <a:ext cx="493776" cy="49377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050792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by Real Users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3364992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reviews are from confirmed bookings. No fake ratings — just honest client feedback.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135624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FF40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300216" y="2944368"/>
            <a:ext cx="548640" cy="548640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971800"/>
            <a:ext cx="493776" cy="49377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958584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272784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 data and your business data are protected by South Africa's data privacy law.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Medical Business in 3 Steps.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880360" y="1965960"/>
            <a:ext cx="338328" cy="73152"/>
          </a:xfrm>
          <a:prstGeom prst="rect">
            <a:avLst/>
          </a:prstGeom>
          <a:solidFill>
            <a:srgbClr val="FF4081">
              <a:alpha val="50000"/>
            </a:srgbClr>
          </a:solidFill>
          <a:ln w="12700">
            <a:solidFill>
              <a:srgbClr val="FF4081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" y="1078992"/>
            <a:ext cx="2724912" cy="3840480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1005840"/>
            <a:ext cx="749808" cy="749808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9202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Online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1480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mgucatech.com and submit your provider application with your credentials and business details.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24728" y="1965960"/>
            <a:ext cx="338328" cy="73152"/>
          </a:xfrm>
          <a:prstGeom prst="rect">
            <a:avLst/>
          </a:prstGeom>
          <a:solidFill>
            <a:srgbClr val="FF4081">
              <a:alpha val="50000"/>
            </a:srgbClr>
          </a:solidFill>
          <a:ln w="12700">
            <a:solidFill>
              <a:srgbClr val="FF4081">
                <a:alpha val="5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91256" y="1078992"/>
            <a:ext cx="2724912" cy="3840480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18688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78808" y="1005840"/>
            <a:ext cx="749808" cy="749808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78808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6" y="1920240"/>
            <a:ext cx="914400" cy="914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18688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Verified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355848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reviews your application within 24 hours. We verify your credentials, licences, and identity.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135624" y="1078992"/>
            <a:ext cx="2724912" cy="3840480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63056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123176" y="1005840"/>
            <a:ext cx="749808" cy="749808"/>
          </a:xfrm>
          <a:prstGeom prst="ellipse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23176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4" y="1920240"/>
            <a:ext cx="914400" cy="9144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63056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&amp; Earn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300216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goes live. Customers start finding and booking you immediately through the MGT chat flow.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FF4081">
              <a:alpha val="8000"/>
            </a:srgbClr>
          </a:solidFill>
          <a:ln w="12700">
            <a:solidFill>
              <a:srgbClr val="FF408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0"/>
            <a:ext cx="4572000" cy="4572000"/>
          </a:xfrm>
          <a:prstGeom prst="ellipse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700" kern="0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JOIN?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Medical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on MGT today.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Doctor, Anywhere.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4088" y="2761488"/>
            <a:ext cx="2395728" cy="530352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FF408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87121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admin@mgucatech.com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01568" y="2761488"/>
            <a:ext cx="2395728" cy="530352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FF408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87121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0448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076 047 0141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99048" y="2761488"/>
            <a:ext cx="2395728" cy="530352"/>
          </a:xfrm>
          <a:prstGeom prst="rect">
            <a:avLst/>
          </a:prstGeom>
          <a:solidFill>
            <a:srgbClr val="FF4081">
              <a:alpha val="10000"/>
            </a:srgbClr>
          </a:solidFill>
          <a:ln w="12700">
            <a:solidFill>
              <a:srgbClr val="FF4081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648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FF408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87121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0196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www.mgucatech.com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931920" y="3520440"/>
            <a:ext cx="1280160" cy="1280160"/>
          </a:xfrm>
          <a:prstGeom prst="ellipse">
            <a:avLst/>
          </a:prstGeom>
          <a:solidFill>
            <a:srgbClr val="3D0018"/>
          </a:solidFill>
          <a:ln w="31750">
            <a:solidFill>
              <a:srgbClr val="FF408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3721608"/>
            <a:ext cx="877824" cy="8778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7200" y="48188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MEDICAL  ·  MgucaTECH  ·  Version 1.0  ·  2025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0" y="4773168"/>
            <a:ext cx="1324574" cy="36576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306286" y="4773168"/>
            <a:ext cx="1324574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2612571" y="4773168"/>
            <a:ext cx="1324574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918857" y="4773168"/>
            <a:ext cx="1324574" cy="365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225143" y="4773168"/>
            <a:ext cx="1324574" cy="365760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531429" y="4773168"/>
            <a:ext cx="1324574" cy="3657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837714" y="4773168"/>
            <a:ext cx="1324574" cy="36576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MGT – Medical Platform Deck</dc:title>
  <dc:subject>PptxGenJS Presentation</dc:subject>
  <dc:creator>PptxGenJS</dc:creator>
  <cp:lastModifiedBy>PptxGenJS</cp:lastModifiedBy>
  <cp:revision>1</cp:revision>
  <dcterms:created xsi:type="dcterms:W3CDTF">2026-05-16T12:06:11Z</dcterms:created>
  <dcterms:modified xsi:type="dcterms:W3CDTF">2026-05-16T12:06:11Z</dcterms:modified>
</cp:coreProperties>
</file>